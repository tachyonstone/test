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1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a88104374a4f1a" /><Relationship Type="http://schemas.openxmlformats.org/officeDocument/2006/relationships/extended-properties" Target="/docProps/app.xml" Id="Rb10dbd088c644a33" /><Relationship Type="http://schemas.openxmlformats.org/officeDocument/2006/relationships/officeDocument" Target="/ppt/presentation.xml" Id="R4278def4ebb04a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2d489819d042c1"/>
  </p:sldMasterIdLst>
  <p:notesMasterIdLst>
    <p:notesMasterId xmlns:r="http://schemas.openxmlformats.org/officeDocument/2006/relationships" r:id="R6029b3d05df4444d"/>
  </p:notesMasterIdLst>
  <p:sldIdLst>
    <p:sldId xmlns:r="http://schemas.openxmlformats.org/officeDocument/2006/relationships" id="256" r:id="Ra08c78572bae4aea"/>
    <p:sldId xmlns:r="http://schemas.openxmlformats.org/officeDocument/2006/relationships" id="257" r:id="R274a1bee8ba742c0"/>
    <p:sldId xmlns:r="http://schemas.openxmlformats.org/officeDocument/2006/relationships" id="258" r:id="R4e0c0e9fc0dc40a3"/>
    <p:sldId xmlns:r="http://schemas.openxmlformats.org/officeDocument/2006/relationships" id="259" r:id="R965ee4d83d084379"/>
    <p:sldId xmlns:r="http://schemas.openxmlformats.org/officeDocument/2006/relationships" id="260" r:id="R8bbacedf34944d29"/>
    <p:sldId xmlns:r="http://schemas.openxmlformats.org/officeDocument/2006/relationships" id="261" r:id="R896dd1622e8c43f7"/>
    <p:sldId xmlns:r="http://schemas.openxmlformats.org/officeDocument/2006/relationships" id="262" r:id="R7354c02b272040b6"/>
    <p:sldId xmlns:r="http://schemas.openxmlformats.org/officeDocument/2006/relationships" id="263" r:id="R58c99f44c6504023"/>
    <p:sldId xmlns:r="http://schemas.openxmlformats.org/officeDocument/2006/relationships" id="264" r:id="R56466104f8364110"/>
    <p:sldId xmlns:r="http://schemas.openxmlformats.org/officeDocument/2006/relationships" id="265" r:id="Ref90e861404445c2"/>
    <p:sldId xmlns:r="http://schemas.openxmlformats.org/officeDocument/2006/relationships" id="266" r:id="Radd1b7ce8c5244f7"/>
    <p:sldId xmlns:r="http://schemas.openxmlformats.org/officeDocument/2006/relationships" id="267" r:id="Rec8c81ddbbc649a5"/>
    <p:sldId xmlns:r="http://schemas.openxmlformats.org/officeDocument/2006/relationships" id="268" r:id="Rc594d9a04d1e4202"/>
    <p:sldId xmlns:r="http://schemas.openxmlformats.org/officeDocument/2006/relationships" id="269" r:id="Rcda2388ae4d34774"/>
    <p:sldId xmlns:r="http://schemas.openxmlformats.org/officeDocument/2006/relationships" id="270" r:id="R1dc6c693b83e4ef5"/>
    <p:sldId xmlns:r="http://schemas.openxmlformats.org/officeDocument/2006/relationships" id="271" r:id="R9cc7e25d9f584630"/>
    <p:sldId xmlns:r="http://schemas.openxmlformats.org/officeDocument/2006/relationships" id="272" r:id="R1237a081eca34d1d"/>
    <p:sldId xmlns:r="http://schemas.openxmlformats.org/officeDocument/2006/relationships" id="273" r:id="R6b1e5313cdd54735"/>
    <p:sldId xmlns:r="http://schemas.openxmlformats.org/officeDocument/2006/relationships" id="274" r:id="Rbd5e31108a544f2c"/>
    <p:sldId xmlns:r="http://schemas.openxmlformats.org/officeDocument/2006/relationships" id="275" r:id="Rb060669e78414f67"/>
    <p:sldId xmlns:r="http://schemas.openxmlformats.org/officeDocument/2006/relationships" id="276" r:id="R4f9e56526efc4c75"/>
    <p:sldId xmlns:r="http://schemas.openxmlformats.org/officeDocument/2006/relationships" id="277" r:id="Rbb0ee302e76c47ff"/>
    <p:sldId xmlns:r="http://schemas.openxmlformats.org/officeDocument/2006/relationships" id="278" r:id="R6430102593ec4986"/>
    <p:sldId xmlns:r="http://schemas.openxmlformats.org/officeDocument/2006/relationships" id="279" r:id="R4b393ebcf09c4684"/>
    <p:sldId xmlns:r="http://schemas.openxmlformats.org/officeDocument/2006/relationships" id="280" r:id="Re99aa2d2ec1c4d8d"/>
    <p:sldId xmlns:r="http://schemas.openxmlformats.org/officeDocument/2006/relationships" id="281" r:id="Rbb2c155d00264a40"/>
    <p:sldId xmlns:r="http://schemas.openxmlformats.org/officeDocument/2006/relationships" id="282" r:id="R26508046c5434fcf"/>
    <p:sldId xmlns:r="http://schemas.openxmlformats.org/officeDocument/2006/relationships" id="283" r:id="R18161f62aa5c4ba9"/>
    <p:sldId xmlns:r="http://schemas.openxmlformats.org/officeDocument/2006/relationships" id="284" r:id="Rb3c44e8fcae041b3"/>
    <p:sldId xmlns:r="http://schemas.openxmlformats.org/officeDocument/2006/relationships" id="285" r:id="R16b192a12b6a4904"/>
    <p:sldId xmlns:r="http://schemas.openxmlformats.org/officeDocument/2006/relationships" id="286" r:id="Rc2a8355cb2eb4767"/>
    <p:sldId xmlns:r="http://schemas.openxmlformats.org/officeDocument/2006/relationships" id="287" r:id="Re2d66c5df6b945fb"/>
    <p:sldId xmlns:r="http://schemas.openxmlformats.org/officeDocument/2006/relationships" id="288" r:id="R8cf6ea3b255441f8"/>
    <p:sldId xmlns:r="http://schemas.openxmlformats.org/officeDocument/2006/relationships" id="289" r:id="Rad7eb883ed0349ea"/>
    <p:sldId xmlns:r="http://schemas.openxmlformats.org/officeDocument/2006/relationships" id="290" r:id="Rf1bccf0d120f4530"/>
    <p:sldId xmlns:r="http://schemas.openxmlformats.org/officeDocument/2006/relationships" id="291" r:id="Ra6423920effe4796"/>
    <p:sldId xmlns:r="http://schemas.openxmlformats.org/officeDocument/2006/relationships" id="292" r:id="Raa5e343891f14f70"/>
    <p:sldId xmlns:r="http://schemas.openxmlformats.org/officeDocument/2006/relationships" id="293" r:id="R5105fba5d1fc4c88"/>
    <p:sldId xmlns:r="http://schemas.openxmlformats.org/officeDocument/2006/relationships" id="294" r:id="R37f8787968054e6a"/>
    <p:sldId xmlns:r="http://schemas.openxmlformats.org/officeDocument/2006/relationships" id="295" r:id="R5d5f947890ce48e5"/>
    <p:sldId xmlns:r="http://schemas.openxmlformats.org/officeDocument/2006/relationships" id="296" r:id="Rf8e547162a204e03"/>
    <p:sldId xmlns:r="http://schemas.openxmlformats.org/officeDocument/2006/relationships" id="297" r:id="R1616a7f1c1f64a28"/>
    <p:sldId xmlns:r="http://schemas.openxmlformats.org/officeDocument/2006/relationships" id="298" r:id="R26e8e867222a41b0"/>
    <p:sldId xmlns:r="http://schemas.openxmlformats.org/officeDocument/2006/relationships" id="299" r:id="Rfb518ccdcf954da0"/>
    <p:sldId xmlns:r="http://schemas.openxmlformats.org/officeDocument/2006/relationships" id="300" r:id="Rb74d9878e8954f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775de0958d42f9" /><Relationship Type="http://schemas.openxmlformats.org/officeDocument/2006/relationships/slideMaster" Target="/ppt/slideMasters/slideMaster1.xml" Id="Rb32d489819d042c1" /><Relationship Type="http://schemas.openxmlformats.org/officeDocument/2006/relationships/notesMaster" Target="/ppt/notesMasters/notesMaster1.xml" Id="R6029b3d05df4444d" /><Relationship Type="http://schemas.openxmlformats.org/officeDocument/2006/relationships/presProps" Target="/ppt/presProps.xml" Id="R7feb3faca81a47e1" /><Relationship Type="http://schemas.openxmlformats.org/officeDocument/2006/relationships/tableStyles" Target="/ppt/tableStyles.xml" Id="R4eccd7c1258b42e8" /><Relationship Type="http://schemas.openxmlformats.org/officeDocument/2006/relationships/slide" Target="/ppt/slides/slide1.xml" Id="Ra08c78572bae4aea" /><Relationship Type="http://schemas.openxmlformats.org/officeDocument/2006/relationships/slide" Target="/ppt/slides/slide2.xml" Id="R274a1bee8ba742c0" /><Relationship Type="http://schemas.openxmlformats.org/officeDocument/2006/relationships/slide" Target="/ppt/slides/slide3.xml" Id="R4e0c0e9fc0dc40a3" /><Relationship Type="http://schemas.openxmlformats.org/officeDocument/2006/relationships/slide" Target="/ppt/slides/slide4.xml" Id="R965ee4d83d084379" /><Relationship Type="http://schemas.openxmlformats.org/officeDocument/2006/relationships/slide" Target="/ppt/slides/slide5.xml" Id="R8bbacedf34944d29" /><Relationship Type="http://schemas.openxmlformats.org/officeDocument/2006/relationships/slide" Target="/ppt/slides/slide6.xml" Id="R896dd1622e8c43f7" /><Relationship Type="http://schemas.openxmlformats.org/officeDocument/2006/relationships/slide" Target="/ppt/slides/slide7.xml" Id="R7354c02b272040b6" /><Relationship Type="http://schemas.openxmlformats.org/officeDocument/2006/relationships/slide" Target="/ppt/slides/slide8.xml" Id="R58c99f44c6504023" /><Relationship Type="http://schemas.openxmlformats.org/officeDocument/2006/relationships/slide" Target="/ppt/slides/slide9.xml" Id="R56466104f8364110" /><Relationship Type="http://schemas.openxmlformats.org/officeDocument/2006/relationships/slide" Target="/ppt/slides/slide10.xml" Id="Ref90e861404445c2" /><Relationship Type="http://schemas.openxmlformats.org/officeDocument/2006/relationships/slide" Target="/ppt/slides/slide11.xml" Id="Radd1b7ce8c5244f7" /><Relationship Type="http://schemas.openxmlformats.org/officeDocument/2006/relationships/slide" Target="/ppt/slides/slide12.xml" Id="Rec8c81ddbbc649a5" /><Relationship Type="http://schemas.openxmlformats.org/officeDocument/2006/relationships/slide" Target="/ppt/slides/slide13.xml" Id="Rc594d9a04d1e4202" /><Relationship Type="http://schemas.openxmlformats.org/officeDocument/2006/relationships/slide" Target="/ppt/slides/slide14.xml" Id="Rcda2388ae4d34774" /><Relationship Type="http://schemas.openxmlformats.org/officeDocument/2006/relationships/slide" Target="/ppt/slides/slide15.xml" Id="R1dc6c693b83e4ef5" /><Relationship Type="http://schemas.openxmlformats.org/officeDocument/2006/relationships/slide" Target="/ppt/slides/slide16.xml" Id="R9cc7e25d9f584630" /><Relationship Type="http://schemas.openxmlformats.org/officeDocument/2006/relationships/slide" Target="/ppt/slides/slide17.xml" Id="R1237a081eca34d1d" /><Relationship Type="http://schemas.openxmlformats.org/officeDocument/2006/relationships/slide" Target="/ppt/slides/slide18.xml" Id="R6b1e5313cdd54735" /><Relationship Type="http://schemas.openxmlformats.org/officeDocument/2006/relationships/slide" Target="/ppt/slides/slide19.xml" Id="Rbd5e31108a544f2c" /><Relationship Type="http://schemas.openxmlformats.org/officeDocument/2006/relationships/slide" Target="/ppt/slides/slide20.xml" Id="Rb060669e78414f67" /><Relationship Type="http://schemas.openxmlformats.org/officeDocument/2006/relationships/slide" Target="/ppt/slides/slide21.xml" Id="R4f9e56526efc4c75" /><Relationship Type="http://schemas.openxmlformats.org/officeDocument/2006/relationships/slide" Target="/ppt/slides/slide22.xml" Id="Rbb0ee302e76c47ff" /><Relationship Type="http://schemas.openxmlformats.org/officeDocument/2006/relationships/slide" Target="/ppt/slides/slide23.xml" Id="R6430102593ec4986" /><Relationship Type="http://schemas.openxmlformats.org/officeDocument/2006/relationships/slide" Target="/ppt/slides/slide24.xml" Id="R4b393ebcf09c4684" /><Relationship Type="http://schemas.openxmlformats.org/officeDocument/2006/relationships/slide" Target="/ppt/slides/slide25.xml" Id="Re99aa2d2ec1c4d8d" /><Relationship Type="http://schemas.openxmlformats.org/officeDocument/2006/relationships/slide" Target="/ppt/slides/slide26.xml" Id="Rbb2c155d00264a40" /><Relationship Type="http://schemas.openxmlformats.org/officeDocument/2006/relationships/slide" Target="/ppt/slides/slide27.xml" Id="R26508046c5434fcf" /><Relationship Type="http://schemas.openxmlformats.org/officeDocument/2006/relationships/slide" Target="/ppt/slides/slide28.xml" Id="R18161f62aa5c4ba9" /><Relationship Type="http://schemas.openxmlformats.org/officeDocument/2006/relationships/slide" Target="/ppt/slides/slide29.xml" Id="Rb3c44e8fcae041b3" /><Relationship Type="http://schemas.openxmlformats.org/officeDocument/2006/relationships/slide" Target="/ppt/slides/slide30.xml" Id="R16b192a12b6a4904" /><Relationship Type="http://schemas.openxmlformats.org/officeDocument/2006/relationships/slide" Target="/ppt/slides/slide31.xml" Id="Rc2a8355cb2eb4767" /><Relationship Type="http://schemas.openxmlformats.org/officeDocument/2006/relationships/slide" Target="/ppt/slides/slide32.xml" Id="Re2d66c5df6b945fb" /><Relationship Type="http://schemas.openxmlformats.org/officeDocument/2006/relationships/slide" Target="/ppt/slides/slide33.xml" Id="R8cf6ea3b255441f8" /><Relationship Type="http://schemas.openxmlformats.org/officeDocument/2006/relationships/slide" Target="/ppt/slides/slide34.xml" Id="Rad7eb883ed0349ea" /><Relationship Type="http://schemas.openxmlformats.org/officeDocument/2006/relationships/slide" Target="/ppt/slides/slide35.xml" Id="Rf1bccf0d120f4530" /><Relationship Type="http://schemas.openxmlformats.org/officeDocument/2006/relationships/slide" Target="/ppt/slides/slide36.xml" Id="Ra6423920effe4796" /><Relationship Type="http://schemas.openxmlformats.org/officeDocument/2006/relationships/slide" Target="/ppt/slides/slide37.xml" Id="Raa5e343891f14f70" /><Relationship Type="http://schemas.openxmlformats.org/officeDocument/2006/relationships/slide" Target="/ppt/slides/slide38.xml" Id="R5105fba5d1fc4c88" /><Relationship Type="http://schemas.openxmlformats.org/officeDocument/2006/relationships/slide" Target="/ppt/slides/slide39.xml" Id="R37f8787968054e6a" /><Relationship Type="http://schemas.openxmlformats.org/officeDocument/2006/relationships/slide" Target="/ppt/slides/slide40.xml" Id="R5d5f947890ce48e5" /><Relationship Type="http://schemas.openxmlformats.org/officeDocument/2006/relationships/slide" Target="/ppt/slides/slide41.xml" Id="Rf8e547162a204e03" /><Relationship Type="http://schemas.openxmlformats.org/officeDocument/2006/relationships/slide" Target="/ppt/slides/slide42.xml" Id="R1616a7f1c1f64a28" /><Relationship Type="http://schemas.openxmlformats.org/officeDocument/2006/relationships/slide" Target="/ppt/slides/slide43.xml" Id="R26e8e867222a41b0" /><Relationship Type="http://schemas.openxmlformats.org/officeDocument/2006/relationships/slide" Target="/ppt/slides/slide44.xml" Id="Rfb518ccdcf954da0" /><Relationship Type="http://schemas.openxmlformats.org/officeDocument/2006/relationships/slide" Target="/ppt/slides/slide45.xml" Id="Rb74d9878e8954f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8a8b97adda49e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6f9f8a98584f1f" /><Relationship Type="http://schemas.openxmlformats.org/officeDocument/2006/relationships/notesMaster" Target="/ppt/notesMasters/notesMaster1.xml" Id="R2a0787617ac349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5dc3b13753d4bc1" /><Relationship Type="http://schemas.openxmlformats.org/officeDocument/2006/relationships/notesMaster" Target="/ppt/notesMasters/notesMaster1.xml" Id="Rf0839e40965c46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f8cbba0f13d4ff2" /><Relationship Type="http://schemas.openxmlformats.org/officeDocument/2006/relationships/notesMaster" Target="/ppt/notesMasters/notesMaster1.xml" Id="R09686eb5a6b24e9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f79e41871634940" /><Relationship Type="http://schemas.openxmlformats.org/officeDocument/2006/relationships/notesMaster" Target="/ppt/notesMasters/notesMaster1.xml" Id="Rc9c391eb248e42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37fd1d3078e4a94" /><Relationship Type="http://schemas.openxmlformats.org/officeDocument/2006/relationships/notesMaster" Target="/ppt/notesMasters/notesMaster1.xml" Id="R6b6e7acb91ce453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04794ecf3884d28" /><Relationship Type="http://schemas.openxmlformats.org/officeDocument/2006/relationships/notesMaster" Target="/ppt/notesMasters/notesMaster1.xml" Id="R3aa042ba3fb449f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8a18d8ceae84caf" /><Relationship Type="http://schemas.openxmlformats.org/officeDocument/2006/relationships/notesMaster" Target="/ppt/notesMasters/notesMaster1.xml" Id="R7a73c6c48812428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c285b9ac1bb46f5" /><Relationship Type="http://schemas.openxmlformats.org/officeDocument/2006/relationships/notesMaster" Target="/ppt/notesMasters/notesMaster1.xml" Id="R1c1bc875fe144bc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dda36a12ad34074" /><Relationship Type="http://schemas.openxmlformats.org/officeDocument/2006/relationships/notesMaster" Target="/ppt/notesMasters/notesMaster1.xml" Id="Racf5a6e9776044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49d6a4b4a14d47" /><Relationship Type="http://schemas.openxmlformats.org/officeDocument/2006/relationships/notesMaster" Target="/ppt/notesMasters/notesMaster1.xml" Id="Ra1f7e493c3324ed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1b11e9235a7460c" /><Relationship Type="http://schemas.openxmlformats.org/officeDocument/2006/relationships/notesMaster" Target="/ppt/notesMasters/notesMaster1.xml" Id="Rd8bef60869e745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f915e46bf146c8" /><Relationship Type="http://schemas.openxmlformats.org/officeDocument/2006/relationships/notesMaster" Target="/ppt/notesMasters/notesMaster1.xml" Id="R50c6041bbb71465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e97cacee6214d36" /><Relationship Type="http://schemas.openxmlformats.org/officeDocument/2006/relationships/notesMaster" Target="/ppt/notesMasters/notesMaster1.xml" Id="Ree9f7321875d453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80b5c4cdd4d4394" /><Relationship Type="http://schemas.openxmlformats.org/officeDocument/2006/relationships/notesMaster" Target="/ppt/notesMasters/notesMaster1.xml" Id="R9de3f894d58046e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7078dced5fe4ac2" /><Relationship Type="http://schemas.openxmlformats.org/officeDocument/2006/relationships/notesMaster" Target="/ppt/notesMasters/notesMaster1.xml" Id="R3f90ba7083dd4b3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c8db1e1f9ee4cfb" /><Relationship Type="http://schemas.openxmlformats.org/officeDocument/2006/relationships/notesMaster" Target="/ppt/notesMasters/notesMaster1.xml" Id="R2991e500e45b4e6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98680f626544c94" /><Relationship Type="http://schemas.openxmlformats.org/officeDocument/2006/relationships/notesMaster" Target="/ppt/notesMasters/notesMaster1.xml" Id="R350c8970eaba491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eab7cc8ff64f66" /><Relationship Type="http://schemas.openxmlformats.org/officeDocument/2006/relationships/notesMaster" Target="/ppt/notesMasters/notesMaster1.xml" Id="R2fd1e1e85bb7422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63b6d246c464ac8" /><Relationship Type="http://schemas.openxmlformats.org/officeDocument/2006/relationships/notesMaster" Target="/ppt/notesMasters/notesMaster1.xml" Id="Rd855e06567a5450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7f41720e50e4df1" /><Relationship Type="http://schemas.openxmlformats.org/officeDocument/2006/relationships/notesMaster" Target="/ppt/notesMasters/notesMaster1.xml" Id="R55a05865ed52413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a36f2665f5d4a52" /><Relationship Type="http://schemas.openxmlformats.org/officeDocument/2006/relationships/notesMaster" Target="/ppt/notesMasters/notesMaster1.xml" Id="Rc1ae419de12f438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688b63a22294133" /><Relationship Type="http://schemas.openxmlformats.org/officeDocument/2006/relationships/notesMaster" Target="/ppt/notesMasters/notesMaster1.xml" Id="Rfb8a9b6e2d5c411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d874178227d04aae" /><Relationship Type="http://schemas.openxmlformats.org/officeDocument/2006/relationships/notesMaster" Target="/ppt/notesMasters/notesMaster1.xml" Id="R65448641b91a4537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a7cfb52fe85464c" /><Relationship Type="http://schemas.openxmlformats.org/officeDocument/2006/relationships/notesMaster" Target="/ppt/notesMasters/notesMaster1.xml" Id="Rf2cbd9f62fad422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c902a216c9b4a1e" /><Relationship Type="http://schemas.openxmlformats.org/officeDocument/2006/relationships/notesMaster" Target="/ppt/notesMasters/notesMaster1.xml" Id="Rc07282ac66dc4378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84d684b36184d40" /><Relationship Type="http://schemas.openxmlformats.org/officeDocument/2006/relationships/notesMaster" Target="/ppt/notesMasters/notesMaster1.xml" Id="R9073dd80d0e34fe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9704da8c89d40b5" /><Relationship Type="http://schemas.openxmlformats.org/officeDocument/2006/relationships/notesMaster" Target="/ppt/notesMasters/notesMaster1.xml" Id="Re3474d884a694a96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66761abcd8a4eac" /><Relationship Type="http://schemas.openxmlformats.org/officeDocument/2006/relationships/notesMaster" Target="/ppt/notesMasters/notesMaster1.xml" Id="Rc874e12c867b499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852a51e47dc412e" /><Relationship Type="http://schemas.openxmlformats.org/officeDocument/2006/relationships/notesMaster" Target="/ppt/notesMasters/notesMaster1.xml" Id="Rfabb07ac02144d1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563332586064926" /><Relationship Type="http://schemas.openxmlformats.org/officeDocument/2006/relationships/notesMaster" Target="/ppt/notesMasters/notesMaster1.xml" Id="R4ee997f632a3404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373484082d8451f" /><Relationship Type="http://schemas.openxmlformats.org/officeDocument/2006/relationships/notesMaster" Target="/ppt/notesMasters/notesMaster1.xml" Id="R67406a5e1f084ab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e85c85726a464802" /><Relationship Type="http://schemas.openxmlformats.org/officeDocument/2006/relationships/notesMaster" Target="/ppt/notesMasters/notesMaster1.xml" Id="Rccf1ce96a0a94b3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6411893f2054308" /><Relationship Type="http://schemas.openxmlformats.org/officeDocument/2006/relationships/notesMaster" Target="/ppt/notesMasters/notesMaster1.xml" Id="R8b4e07705ddb460b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58d7914a22f4549" /><Relationship Type="http://schemas.openxmlformats.org/officeDocument/2006/relationships/notesMaster" Target="/ppt/notesMasters/notesMaster1.xml" Id="Rcabbca8792bf469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03d8bbfc18c47be" /><Relationship Type="http://schemas.openxmlformats.org/officeDocument/2006/relationships/notesMaster" Target="/ppt/notesMasters/notesMaster1.xml" Id="Rf87bd496eb344d9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6aa43950363740cd" /><Relationship Type="http://schemas.openxmlformats.org/officeDocument/2006/relationships/notesMaster" Target="/ppt/notesMasters/notesMaster1.xml" Id="Rd2d37c5f453848b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b0cd056c55a44a4" /><Relationship Type="http://schemas.openxmlformats.org/officeDocument/2006/relationships/notesMaster" Target="/ppt/notesMasters/notesMaster1.xml" Id="Rfae6d94ebff941e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750d38dcade24714" /><Relationship Type="http://schemas.openxmlformats.org/officeDocument/2006/relationships/notesMaster" Target="/ppt/notesMasters/notesMaster1.xml" Id="R7b469667ebfa45e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027054eb2684849" /><Relationship Type="http://schemas.openxmlformats.org/officeDocument/2006/relationships/notesMaster" Target="/ppt/notesMasters/notesMaster1.xml" Id="R08eabfc2333d4c2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ddcf4e196cc4b1b" /><Relationship Type="http://schemas.openxmlformats.org/officeDocument/2006/relationships/notesMaster" Target="/ppt/notesMasters/notesMaster1.xml" Id="R2b768e1cc00e4e15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b2b9f82210249de" /><Relationship Type="http://schemas.openxmlformats.org/officeDocument/2006/relationships/notesMaster" Target="/ppt/notesMasters/notesMaster1.xml" Id="R788343f34f2f431c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c57a49b793374a0f" /><Relationship Type="http://schemas.openxmlformats.org/officeDocument/2006/relationships/notesMaster" Target="/ppt/notesMasters/notesMaster1.xml" Id="Raaa89808a2374942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5acd2c980d154aaa" /><Relationship Type="http://schemas.openxmlformats.org/officeDocument/2006/relationships/notesMaster" Target="/ppt/notesMasters/notesMaster1.xml" Id="R41067891259946d9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085ded930fbf489e" /><Relationship Type="http://schemas.openxmlformats.org/officeDocument/2006/relationships/notesMaster" Target="/ppt/notesMasters/notesMaster1.xml" Id="R9fb1d9ef3e644cba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de5ec6ce8c9b488d" /><Relationship Type="http://schemas.openxmlformats.org/officeDocument/2006/relationships/notesMaster" Target="/ppt/notesMasters/notesMaster1.xml" Id="R939753639020487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全体。補足は元データ削除の合格例_v1.pdf。</a:t>
            </a:r>
          </a:p>
          <a:p xmlns:a="http://schemas.openxmlformats.org/drawingml/2006/main">
            <a:r>
              <a:t>目的、処理手順、既存特許との差分候補、現在の6項の技術事項を整理する。出願日・優先日、出願済みかどうかは未確認。正式文言や最終法律判断ではない。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7、12、29ページ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4～6ページ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出典：時系列データ処理の全体フロー図.png／本チャットの更新事項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8～11ページ。追加説明は本チャットの区間と出現計数の議論。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13～16、42ページ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5、13、30ページ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18ページ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12、21、23ページ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21～26ページ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17～20、29ページ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19、31ページ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20、31ページ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18、21～23ページ。本チャットの特徴量と学習件数の整理。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22、24～26ページ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27、32ページ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</a:t>
            </a:r>
          </a:p>
          <a:p xmlns:a="http://schemas.openxmlformats.org/drawingml/2006/main">
            <a:r>
              <a:t>各工程の実装は発明案の設計説明。生成ログの計算済み部分を除き、実設備での実装・検証済みとは扱わない。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出典：元データ削除の合格例_v1.pdf 1、5～9ページ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出典：元データ削除の合格例_v1.pdf 6、7、10ページ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33ページ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34～36ページ</a:t>
            </a:r>
          </a:p>
          <a:p xmlns:a="http://schemas.openxmlformats.org/drawingml/2006/main">
            <a:r>
              <a:t>https://patents.google.com/patent/JPWO2013051101A1/ja</a:t>
            </a:r>
          </a:p>
          <a:p xmlns:a="http://schemas.openxmlformats.org/drawingml/2006/main">
            <a:r>
              <a:t>https://patents.google.com/patent/JP2008299486A/en</a:t>
            </a:r>
          </a:p>
          <a:p xmlns:a="http://schemas.openxmlformats.org/drawingml/2006/main">
            <a:r>
              <a:t>https://patents.google.com/patent/US20240259034A1/en</a:t>
            </a:r>
          </a:p>
          <a:p xmlns:a="http://schemas.openxmlformats.org/drawingml/2006/main">
            <a:r>
              <a:t>https://patents.google.com/patent/US11507324B2/en</a:t>
            </a:r>
          </a:p>
          <a:p xmlns:a="http://schemas.openxmlformats.org/drawingml/2006/main">
            <a:r>
              <a:t>https://patents.google.com/patent/JP5936240B2/ja</a:t>
            </a:r>
          </a:p>
          <a:p xmlns:a="http://schemas.openxmlformats.org/drawingml/2006/main">
            <a:r>
              <a:t>https://patents.google.com/patent/JP7563620B2/ja</a:t>
            </a:r>
          </a:p>
          <a:p xmlns:a="http://schemas.openxmlformats.org/drawingml/2006/main">
            <a:r>
              <a:t>https://patents.google.com/patent/US20220391775A1/en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34ページ</a:t>
            </a:r>
          </a:p>
          <a:p xmlns:a="http://schemas.openxmlformats.org/drawingml/2006/main">
            <a:r>
              <a:t>https://patents.google.com/patent/JPWO2013051101A1/ja</a:t>
            </a:r>
          </a:p>
          <a:p xmlns:a="http://schemas.openxmlformats.org/drawingml/2006/main">
            <a:r>
              <a:t>日立JPWO2013051101A1。時間軸伸縮にペナルティを与える波形比較、類似度階層分類、吸収閾値、新群登録、未知通知、分類別保存削除がある。請求項8は圧縮後も同じ群に属することを許容条件とする。設定次第で似た動作が可能なことと、具体的構成が文献に開示されることを分け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34、35ページ</a:t>
            </a:r>
          </a:p>
          <a:p xmlns:a="http://schemas.openxmlformats.org/drawingml/2006/main">
            <a:r>
              <a:t>https://patents.google.com/patent/JP5936240B2/ja</a:t>
            </a:r>
          </a:p>
          <a:p xmlns:a="http://schemas.openxmlformats.org/drawingml/2006/main">
            <a:r>
              <a:t>https://patents.google.com/patent/JP2008299486A/en</a:t>
            </a:r>
          </a:p>
          <a:p xmlns:a="http://schemas.openxmlformats.org/drawingml/2006/main">
            <a:r>
              <a:t>https://patents.google.com/patent/US20240259034A1/en</a:t>
            </a:r>
          </a:p>
          <a:p xmlns:a="http://schemas.openxmlformats.org/drawingml/2006/main">
            <a:r>
              <a:t>https://patents.google.com/patent/JP7563620B2/ja</a:t>
            </a:r>
          </a:p>
          <a:p xmlns:a="http://schemas.openxmlformats.org/drawingml/2006/main">
            <a:r>
              <a:t>https://patents.google.com/patent/US20220391775A1/en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29、36、39ページ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28～32ページ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29ページ</a:t>
            </a:r>
          </a:p>
          <a:p xmlns:a="http://schemas.openxmlformats.org/drawingml/2006/main">
            <a:r>
              <a:t>正式な特許請求の範囲ではなく、現時点の請求項に記載する技術事項。再抽出確認の追加案を採用済みと扱わない。</a:t>
            </a:r>
          </a:p>
          <a:p xmlns:a="http://schemas.openxmlformats.org/drawingml/2006/main">
            <a:r>
              <a:t>パターンID・版に対応づけて、定義、出現情報、統計、保持状況、削除許可評価を知識ベースで管理する。</a:t>
            </a:r>
          </a:p>
          <a:p xmlns:a="http://schemas.openxmlformats.org/drawingml/2006/main">
            <a:r>
              <a:t>確立度、元データ由来特徴から出現情報由来特徴への置換性能、削除後の最低保持数・保持構成を別々に評価する。</a:t>
            </a:r>
          </a:p>
          <a:p xmlns:a="http://schemas.openxmlformats.org/drawingml/2006/main">
            <a:r>
              <a:t>すべて合格した場合だけ、保持集合外の余剰の典型元データを削除する。未達・未評価なら削除しない。</a:t>
            </a:r>
          </a:p>
          <a:p xmlns:a="http://schemas.openxmlformats.org/drawingml/2006/main">
            <a:r>
              <a:t>出現情報と統計を保持して学習・説明に共通利用し、許可を評価したパターン版・モデル・運転条件に限定する。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30ページ</a:t>
            </a:r>
          </a:p>
          <a:p xmlns:a="http://schemas.openxmlformats.org/drawingml/2006/main">
            <a:r>
              <a:t>正式な特許請求の範囲ではなく、現時点の請求項に記載する技術事項。再抽出確認の追加案を採用済みと扱わない。</a:t>
            </a:r>
          </a:p>
          <a:p xmlns:a="http://schemas.openxmlformats.org/drawingml/2006/main">
            <a:r>
              <a:t>典型範囲と対応可能範囲を定める二つの閾値を使い、個々のデータを典型・境界・未知へ分類する。</a:t>
            </a:r>
          </a:p>
          <a:p xmlns:a="http://schemas.openxmlformats.org/drawingml/2006/main">
            <a:r>
              <a:t>典型は削除候補にとどめる。境界は削除から保護し、対応パターンID・版・類似度・保存先と関連づける。</a:t>
            </a:r>
          </a:p>
          <a:p xmlns:a="http://schemas.openxmlformats.org/drawingml/2006/main">
            <a:r>
              <a:t>未知は登録済みパターンへの所属を確定せず、新規抽出候補として元データを保持する。</a:t>
            </a:r>
          </a:p>
          <a:p xmlns:a="http://schemas.openxmlformats.org/drawingml/2006/main">
            <a:r>
              <a:t>本項は分類と保存管理を規定する。実際の再構築と新規抽出は請求項6で扱う。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30ページ</a:t>
            </a:r>
          </a:p>
          <a:p xmlns:a="http://schemas.openxmlformats.org/drawingml/2006/main">
            <a:r>
              <a:t>正式な特許請求の範囲ではなく、現時点の請求項に記載する技術事項。再抽出確認の追加案を採用済みと扱わない。</a:t>
            </a:r>
          </a:p>
          <a:p xmlns:a="http://schemas.openxmlformats.org/drawingml/2006/main">
            <a:r>
              <a:t>出現数、統計量の信頼区間、期間・設備・運転条件ごとの再現性等から確立度を評価する。</a:t>
            </a:r>
          </a:p>
          <a:p xmlns:a="http://schemas.openxmlformats.org/drawingml/2006/main">
            <a:r>
              <a:t>共通の検証データと同じ予測対象について、元データ由来特徴と出現情報由来特徴による性能を比較する。</a:t>
            </a:r>
          </a:p>
          <a:p xmlns:a="http://schemas.openxmlformats.org/drawingml/2006/main">
            <a:r>
              <a:t>全体平均に加え、削除を適用する条件ごとに確認する。検証例不足の条件を確認済みとは扱わない。</a:t>
            </a:r>
          </a:p>
          <a:p xmlns:a="http://schemas.openxmlformats.org/drawingml/2006/main">
            <a:r>
              <a:t>評価対象期間、モデル、パターン版、運転条件を記録する。具体的な指標と許容差は用途に応じて定める。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31ページ</a:t>
            </a:r>
          </a:p>
          <a:p xmlns:a="http://schemas.openxmlformats.org/drawingml/2006/main">
            <a:r>
              <a:t>正式な特許請求の範囲ではなく、現時点の請求項に記載する技術事項。再抽出確認の追加案を採用済みと扱わない。</a:t>
            </a:r>
          </a:p>
          <a:p xmlns:a="http://schemas.openxmlformats.org/drawingml/2006/main">
            <a:r>
              <a:t>代表例、典型内の変動、最近例、希少条件などの区分ごとに、ばらつき・不確かさ・網羅状況から必要数を定める。</a:t>
            </a:r>
          </a:p>
          <a:p xmlns:a="http://schemas.openxmlformats.org/drawingml/2006/main">
            <a:r>
              <a:t>削除前に保持集合を選び、削除後の区分別残存数を確認する。総数が足りても必要区分が欠ける削除を禁止する。</a:t>
            </a:r>
          </a:p>
          <a:p xmlns:a="http://schemas.openxmlformats.org/drawingml/2006/main">
            <a:r>
              <a:t>区分重複による二重計数を避け、境界などの別途保護対象の保護を維持する。</a:t>
            </a:r>
          </a:p>
          <a:p xmlns:a="http://schemas.openxmlformats.org/drawingml/2006/main">
            <a:r>
              <a:t>必要数の一般的な算定式は未確定。一定割合の保持だけで充足したと扱わず、数学的な最小数も保証しない。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31ページ</a:t>
            </a:r>
          </a:p>
          <a:p xmlns:a="http://schemas.openxmlformats.org/drawingml/2006/main">
            <a:r>
              <a:t>正式な特許請求の範囲ではなく、現時点の請求項に記載する技術事項。再抽出確認の追加案を採用済みと扱わない。</a:t>
            </a:r>
          </a:p>
          <a:p xmlns:a="http://schemas.openxmlformats.org/drawingml/2006/main">
            <a:r>
              <a:t>出現時刻、回数、継続時間、間隔、強度、一致度を元データから独立して保存する。</a:t>
            </a:r>
          </a:p>
          <a:p xmlns:a="http://schemas.openxmlformats.org/drawingml/2006/main">
            <a:r>
              <a:t>残存元データだけで過去の統計を取り直さず、出現情報を基礎に維持する。物理削除を理由に過去の出現回数を減らさない。</a:t>
            </a:r>
          </a:p>
          <a:p xmlns:a="http://schemas.openxmlformats.org/drawingml/2006/main">
            <a:r>
              <a:t>同じパターンID・版の情報を、学習入力、確立度評価、判定理由の説明に共通利用する。</a:t>
            </a:r>
          </a:p>
          <a:p xmlns:a="http://schemas.openxmlformats.org/drawingml/2006/main">
            <a:r>
              <a:t>今回のモデルへの寄与と、過去の統計的関連を区別して併記する。出現率、効果量、信頼区間、対象数等を用いる。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32ページ</a:t>
            </a:r>
          </a:p>
          <a:p xmlns:a="http://schemas.openxmlformats.org/drawingml/2006/main">
            <a:r>
              <a:t>正式な特許請求の範囲ではなく、現時点の請求項に記載する技術事項。再抽出確認の追加案を採用済みと扱わない。</a:t>
            </a:r>
          </a:p>
          <a:p xmlns:a="http://schemas.openxmlformats.org/drawingml/2006/main">
            <a:r>
              <a:t>境界未知率、類似度分布、統計的関係、性能の変化で、影響するパターン・条件の今後の削除を止め、新規元データを保持する。</a:t>
            </a:r>
          </a:p>
          <a:p xmlns:a="http://schemas.openxmlformats.org/drawingml/2006/main">
            <a:r>
              <a:t>残存・新規の境界元データで再構築し、未知元データから新しいパターンを抽出する。</a:t>
            </a:r>
          </a:p>
          <a:p xmlns:a="http://schemas.openxmlformats.org/drawingml/2006/main">
            <a:r>
              <a:t>分割・統合・新規登録時に、版、閾値、出現対応、統計、モデル、確立度、代替性、保持条件を更新する。</a:t>
            </a:r>
          </a:p>
          <a:p xmlns:a="http://schemas.openxmlformats.org/drawingml/2006/main">
            <a:r>
              <a:t>旧版の削除許可を新版へ自動適用せず、再評価で合格した範囲だけ再開する。削除済み元データの再取得は前提にしない。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37～39ページ</a:t>
            </a:r>
          </a:p>
          <a:p xmlns:a="http://schemas.openxmlformats.org/drawingml/2006/main">
            <a:r>
              <a:t>元データ削除の合格例_v1.pdf 10ページ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出典：発明アイデア詳細資料_v4.pdf 40～42ページ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068bc6a059432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ecff1e913248a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f30fe379b74b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c46a9104c649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ad8473923f4bd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1b455bdba547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005C00-FFC2-4DB7-A6D5-622F592D8A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DF52F90-30AB-4B74-8D02-ED08F337B2E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D94E3F7-5A7F-43AE-A223-232A24758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32887B-42FA-4CC6-A700-36C9CBFE2F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6E4B9E6-231F-4455-81EA-6ED6DE6D81B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5397F94-4EC7-4DA1-BBB0-5A62DE6F4C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52B1D53-61B2-4A47-B97D-2DF9E3C567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2577F89-8749-44D1-B442-5572EEEA9C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A1C62C-3ED5-4B09-A780-A70BD63743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691D5F0-F40A-4C3B-8285-844778AE31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96407c32ff42ce" /><Relationship Type="http://schemas.openxmlformats.org/officeDocument/2006/relationships/slideLayout" Target="/ppt/slideLayouts/slideLayout1.xml" Id="R530509cc18dd487a" /><Relationship Type="http://schemas.openxmlformats.org/officeDocument/2006/relationships/slideLayout" Target="/ppt/slideLayouts/slideLayout2.xml" Id="R85948589c14d4b75" /><Relationship Type="http://schemas.openxmlformats.org/officeDocument/2006/relationships/slideLayout" Target="/ppt/slideLayouts/slideLayout3.xml" Id="R2507ffae34e84ed9" /><Relationship Type="http://schemas.openxmlformats.org/officeDocument/2006/relationships/slideLayout" Target="/ppt/slideLayouts/slideLayout4.xml" Id="Re74ea56f5eb244a4" /><Relationship Type="http://schemas.openxmlformats.org/officeDocument/2006/relationships/slideLayout" Target="/ppt/slideLayouts/slideLayout5.xml" Id="R48e1b9c19582463f" /><Relationship Type="http://schemas.openxmlformats.org/officeDocument/2006/relationships/slideLayout" Target="/ppt/slideLayouts/slideLayout6.xml" Id="R5fb1f0f45763426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0509cc18dd487a"/>
    <p:sldLayoutId xmlns:r="http://schemas.openxmlformats.org/officeDocument/2006/relationships" id="2147483650" r:id="R85948589c14d4b75"/>
    <p:sldLayoutId xmlns:r="http://schemas.openxmlformats.org/officeDocument/2006/relationships" id="2147483651" r:id="R2507ffae34e84ed9"/>
    <p:sldLayoutId xmlns:r="http://schemas.openxmlformats.org/officeDocument/2006/relationships" id="2147483652" r:id="Re74ea56f5eb244a4"/>
    <p:sldLayoutId xmlns:r="http://schemas.openxmlformats.org/officeDocument/2006/relationships" id="2147483653" r:id="R48e1b9c19582463f"/>
    <p:sldLayoutId xmlns:r="http://schemas.openxmlformats.org/officeDocument/2006/relationships" id="2147483654" r:id="R5fb1f0f45763426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f14a7c522843c8" /><Relationship Type="http://schemas.openxmlformats.org/officeDocument/2006/relationships/notesSlide" Target="/ppt/notesSlides/notesSlide1.xml" Id="Ra3bbf853ecf14d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0a8c1276a14bd9" /><Relationship Type="http://schemas.openxmlformats.org/officeDocument/2006/relationships/notesSlide" Target="/ppt/notesSlides/notesSlide2.xml" Id="R70b152a0a3b340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276ea7d9a2451d" /><Relationship Type="http://schemas.openxmlformats.org/officeDocument/2006/relationships/notesSlide" Target="/ppt/notesSlides/notesSlide3.xml" Id="Rb15c7123b9644a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a78b0f03884bca" /><Relationship Type="http://schemas.openxmlformats.org/officeDocument/2006/relationships/notesSlide" Target="/ppt/notesSlides/notesSlide4.xml" Id="R26470a18a2b841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d8bf36fcdc4121" /><Relationship Type="http://schemas.openxmlformats.org/officeDocument/2006/relationships/notesSlide" Target="/ppt/notesSlides/notesSlide5.xml" Id="R42a4f992f3034a3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662d7f88f94502" /><Relationship Type="http://schemas.openxmlformats.org/officeDocument/2006/relationships/notesSlide" Target="/ppt/notesSlides/notesSlide6.xml" Id="R3b56d4ff2cfe404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933456fb4f4456" /><Relationship Type="http://schemas.openxmlformats.org/officeDocument/2006/relationships/notesSlide" Target="/ppt/notesSlides/notesSlide7.xml" Id="R7858590c944b4f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b108916e10402f" /><Relationship Type="http://schemas.openxmlformats.org/officeDocument/2006/relationships/notesSlide" Target="/ppt/notesSlides/notesSlide8.xml" Id="Rb580329d3c9d41a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0295f9bd484f84" /><Relationship Type="http://schemas.openxmlformats.org/officeDocument/2006/relationships/notesSlide" Target="/ppt/notesSlides/notesSlide9.xml" Id="Rfa4ea70f39a54f2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d4c67483bf4f08" /><Relationship Type="http://schemas.openxmlformats.org/officeDocument/2006/relationships/notesSlide" Target="/ppt/notesSlides/notesSlide10.xml" Id="R3da4444c7f4c402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8f4fd725d3c4373" /><Relationship Type="http://schemas.openxmlformats.org/officeDocument/2006/relationships/notesSlide" Target="/ppt/notesSlides/notesSlide11.xml" Id="R778471d54e294bc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d65a5128f24ba9" /><Relationship Type="http://schemas.openxmlformats.org/officeDocument/2006/relationships/notesSlide" Target="/ppt/notesSlides/notesSlide12.xml" Id="R40b15b8603194e8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5bff1725524468" /><Relationship Type="http://schemas.openxmlformats.org/officeDocument/2006/relationships/notesSlide" Target="/ppt/notesSlides/notesSlide13.xml" Id="Raf36678b61a44fd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cf6d89a6634b59" /><Relationship Type="http://schemas.openxmlformats.org/officeDocument/2006/relationships/notesSlide" Target="/ppt/notesSlides/notesSlide14.xml" Id="R2bfd36bf4c17409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05fdf7175d46ed" /><Relationship Type="http://schemas.openxmlformats.org/officeDocument/2006/relationships/notesSlide" Target="/ppt/notesSlides/notesSlide15.xml" Id="R4d223d3a02e146d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813436c13f43fb" /><Relationship Type="http://schemas.openxmlformats.org/officeDocument/2006/relationships/notesSlide" Target="/ppt/notesSlides/notesSlide16.xml" Id="Rbeefc32b9fbc48a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c2360c04f44fa2" /><Relationship Type="http://schemas.openxmlformats.org/officeDocument/2006/relationships/notesSlide" Target="/ppt/notesSlides/notesSlide17.xml" Id="R1a1ea973fc104ec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9a06cf77b04c53" /><Relationship Type="http://schemas.openxmlformats.org/officeDocument/2006/relationships/notesSlide" Target="/ppt/notesSlides/notesSlide18.xml" Id="R73aa9aada778450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50335c4e984351" /><Relationship Type="http://schemas.openxmlformats.org/officeDocument/2006/relationships/notesSlide" Target="/ppt/notesSlides/notesSlide19.xml" Id="Rb2ac40e071664a3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7e53afa49b44c3" /><Relationship Type="http://schemas.openxmlformats.org/officeDocument/2006/relationships/notesSlide" Target="/ppt/notesSlides/notesSlide20.xml" Id="Rabdc44ba90004f9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477a8897194e0c" /><Relationship Type="http://schemas.openxmlformats.org/officeDocument/2006/relationships/notesSlide" Target="/ppt/notesSlides/notesSlide21.xml" Id="Rd37e8bd14a0c4aa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07d87fd8b5e4b62" /><Relationship Type="http://schemas.openxmlformats.org/officeDocument/2006/relationships/notesSlide" Target="/ppt/notesSlides/notesSlide22.xml" Id="Rf8feb7a38330403c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604b409fb8479f" /><Relationship Type="http://schemas.openxmlformats.org/officeDocument/2006/relationships/notesSlide" Target="/ppt/notesSlides/notesSlide23.xml" Id="Rbcd7ac49b36c4b0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c96c6c7a474c83" /><Relationship Type="http://schemas.openxmlformats.org/officeDocument/2006/relationships/notesSlide" Target="/ppt/notesSlides/notesSlide24.xml" Id="Ra8c668bb7dc34d5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250dbca6fb4831" /><Relationship Type="http://schemas.openxmlformats.org/officeDocument/2006/relationships/notesSlide" Target="/ppt/notesSlides/notesSlide25.xml" Id="R0dab6085de8a47c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8e2add00e949cd" /><Relationship Type="http://schemas.openxmlformats.org/officeDocument/2006/relationships/notesSlide" Target="/ppt/notesSlides/notesSlide26.xml" Id="R38a3ced8704342e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845e8fad0e4551" /><Relationship Type="http://schemas.openxmlformats.org/officeDocument/2006/relationships/notesSlide" Target="/ppt/notesSlides/notesSlide27.xml" Id="Ra6d7ec46b2c84182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a39e0fee2584933" /><Relationship Type="http://schemas.openxmlformats.org/officeDocument/2006/relationships/notesSlide" Target="/ppt/notesSlides/notesSlide28.xml" Id="R9dcb0060f425479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c1b8db2d3a849eb" /><Relationship Type="http://schemas.openxmlformats.org/officeDocument/2006/relationships/notesSlide" Target="/ppt/notesSlides/notesSlide29.xml" Id="Ra12dc1154ec0441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9969961d664203" /><Relationship Type="http://schemas.openxmlformats.org/officeDocument/2006/relationships/chart" Target="/ppt/slides/charts/chart1.xml" Id="R002e1ba926f246b6" /><Relationship Type="http://schemas.openxmlformats.org/officeDocument/2006/relationships/notesSlide" Target="/ppt/notesSlides/notesSlide30.xml" Id="R4fd89280a3e4493f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b38c7d49994845" /><Relationship Type="http://schemas.openxmlformats.org/officeDocument/2006/relationships/notesSlide" Target="/ppt/notesSlides/notesSlide31.xml" Id="R0277af81fd1040a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45c715c0c94b62" /><Relationship Type="http://schemas.openxmlformats.org/officeDocument/2006/relationships/notesSlide" Target="/ppt/notesSlides/notesSlide32.xml" Id="Rc017304225fd49c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46b6eaae624c63" /><Relationship Type="http://schemas.openxmlformats.org/officeDocument/2006/relationships/notesSlide" Target="/ppt/notesSlides/notesSlide33.xml" Id="R887d220e276940fd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43d446373d54de1" /><Relationship Type="http://schemas.openxmlformats.org/officeDocument/2006/relationships/notesSlide" Target="/ppt/notesSlides/notesSlide34.xml" Id="R873815e3ff884009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c4aff2341d4ac8" /><Relationship Type="http://schemas.openxmlformats.org/officeDocument/2006/relationships/notesSlide" Target="/ppt/notesSlides/notesSlide35.xml" Id="Ra27a03a503e14ba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08ca26d7cd439c" /><Relationship Type="http://schemas.openxmlformats.org/officeDocument/2006/relationships/notesSlide" Target="/ppt/notesSlides/notesSlide36.xml" Id="R3242950e24fd4c8c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53c1d5bce349bb" /><Relationship Type="http://schemas.openxmlformats.org/officeDocument/2006/relationships/notesSlide" Target="/ppt/notesSlides/notesSlide37.xml" Id="Rfbc50b1e71a04b2b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b1c4c8bc444c78" /><Relationship Type="http://schemas.openxmlformats.org/officeDocument/2006/relationships/notesSlide" Target="/ppt/notesSlides/notesSlide38.xml" Id="R545b3d01216a4eb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89870b2ce74d6a" /><Relationship Type="http://schemas.openxmlformats.org/officeDocument/2006/relationships/notesSlide" Target="/ppt/notesSlides/notesSlide39.xml" Id="R747c10552e914fb4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58da5743034e56" /><Relationship Type="http://schemas.openxmlformats.org/officeDocument/2006/relationships/notesSlide" Target="/ppt/notesSlides/notesSlide40.xml" Id="R19c7dce751ee41cd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0a0dbb395e421f" /><Relationship Type="http://schemas.openxmlformats.org/officeDocument/2006/relationships/notesSlide" Target="/ppt/notesSlides/notesSlide41.xml" Id="R9c70116693d8474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03e504598c4951" /><Relationship Type="http://schemas.openxmlformats.org/officeDocument/2006/relationships/notesSlide" Target="/ppt/notesSlides/notesSlide42.xml" Id="Rfc8ef7d30dfa48a0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9845b341734dbc" /><Relationship Type="http://schemas.openxmlformats.org/officeDocument/2006/relationships/notesSlide" Target="/ppt/notesSlides/notesSlide43.xml" Id="R1fff84b344d6443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ee181b98144eec" /><Relationship Type="http://schemas.openxmlformats.org/officeDocument/2006/relationships/notesSlide" Target="/ppt/notesSlides/notesSlide44.xml" Id="R6f01fc062cae476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f8cbd7c75543d7" /><Relationship Type="http://schemas.openxmlformats.org/officeDocument/2006/relationships/notesSlide" Target="/ppt/notesSlides/notesSlide45.xml" Id="R63c730afa45b473e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学習用元CSV MB</c:v>
          </c:tx>
          <c:spPr>
            <a:solidFill xmlns:a="http://schemas.openxmlformats.org/drawingml/2006/main">
              <a:srgbClr val="236487"/>
            </a:solidFill>
          </c:spPr>
          <c:invertIfNegative val="0"/>
          <c:cat>
            <c:strLit>
              <c:ptCount val="2"/>
              <c:pt idx="0">
                <c:v>削除前</c:v>
              </c:pt>
              <c:pt idx="1">
                <c:v>削除後</c:v>
              </c:pt>
            </c:strLit>
          </c:cat>
          <c:val>
            <c:numLit>
              <c:formatCode>0.0</c:formatCode>
              <c:ptCount val="2"/>
              <c:pt idx="0">
                <c:v>7.469664</c:v>
              </c:pt>
              <c:pt idx="1">
                <c:v>1.881027</c:v>
              </c:pt>
            </c:numLit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72B3A"/>
                  </a:solidFill>
                  <a:latin typeface="IPAexGothic"/>
                  <a:ea typeface="IPAexGothic"/>
                  <a:cs typeface="IPAex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</a:p>
        </c:txPr>
        <c:crossAx val="48672768"/>
      </c:catAx>
      <c:valAx>
        <c:axId val="48672768"/>
        <c:scaling>
          <c:orientation val="minMax"/>
          <c:max val="8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BCCAD2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</a:p>
        </c:txPr>
        <c:crossAx val="48650112"/>
        <c:crossBetween val="between"/>
        <c:majorUnit val="2"/>
      </c:valAx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adline">
            <a:extLst xmlns:a="http://schemas.openxmlformats.org/drawingml/2006/main">
              <a:ext uri="{FF2B5EF4-FFF2-40B4-BE49-F238E27FC236}">
                <a16:creationId xmlns:a16="http://schemas.microsoft.com/office/drawing/2014/main" id="{17295440-F9E4-452E-B3E6-60CF5630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同一パターンを共通利用する発明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A004C89-308D-406C-9B06-C6D193C7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B6C584A-8583-4CB4-AB9E-CCD44395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105727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元データの削減と</a:t>
            </a:r>
          </a:p>
          <a:p xmlns:a="http://schemas.openxmlformats.org/drawingml/2006/main">
            <a:pPr algn="l">
              <a:buNone/>
              <a:def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42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機械学習と判定理由の説明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6FA314A-813A-4A0E-AFD2-9454AA8E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9624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325" b="0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技術構成と6項の請求項構成案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EC1E2C87-E0D6-4D60-A4D6-944A50BD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5780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2026年10月19日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A49F08C-B266-4794-853C-489DA6E1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正式な出願文言の作成前に、技術事項と検証範囲を整理した資料</a:t>
            </a:r>
          </a:p>
        </p:txBody>
      </p:sp>
    </p:spTree>
    <p:extLst>
      <p:ext uri="{BB962C8B-B14F-4D97-AF65-F5344CB8AC3E}">
        <p14:creationId xmlns:p14="http://schemas.microsoft.com/office/powerpoint/2010/main" val="1167869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line">
            <a:extLst xmlns:a="http://schemas.openxmlformats.org/drawingml/2006/main">
              <a:ext uri="{FF2B5EF4-FFF2-40B4-BE49-F238E27FC236}">
                <a16:creationId xmlns:a16="http://schemas.microsoft.com/office/drawing/2014/main" id="{82A48713-E08B-41C1-94EA-DA95621D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本発明の目的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353E565F-F878-4FDA-95FA-EA1927852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繰り返す元データを減らし、必要な学習情報と説明の根拠を残す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3626BEA2-09AE-4000-83C7-E92FE7FF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02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A08F63A0-D59F-44D0-ACC3-0E19F9B5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解決したい問題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0FD1841-F215-4126-A0C3-0E278512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似た波形が蓄積し、保存量が増える。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一律の間引きでは、希少条件や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再検討に必要な例を失う。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削減・学習・説明を別々に管理すると、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対応が追いにくい。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FFC751D-102A-44B1-8945-19439A33D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目指す動作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FFE8F24A-E748-4D61-835F-6A4C22967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同じパターンID・版を各処理で参照する。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必要条件を確認し、保持集合外の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典型データを削除する。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出現情報と統計を、学習と説明に使う。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07CD524A-43AF-4570-B339-82FE4FB4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具体化対象は設備の時系列ログ。画像・離散データへの拡張は別途設計が必要</a:t>
            </a:r>
          </a:p>
        </p:txBody>
      </p:sp>
    </p:spTree>
    <p:extLst>
      <p:ext uri="{BB962C8B-B14F-4D97-AF65-F5344CB8AC3E}">
        <p14:creationId xmlns:p14="http://schemas.microsoft.com/office/powerpoint/2010/main" val="760146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878A68-5844-43F6-A115-80B4F664AEB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48100" y="3486150"/>
            <a:ext cx="2343150" cy="16954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7DDB7-D414-4C23-880F-2D1FE3522F2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848100" y="3486150"/>
            <a:ext cx="2343150" cy="1714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B52E40-03CF-45B3-943F-BB3C0CA5F01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848100" y="2133600"/>
            <a:ext cx="2343150" cy="13525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7BDD8451-8CCA-498C-8839-1A9E6E55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同じパターンを三つの用途へ利用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C3AC4BC6-A3F1-465F-9822-0FB62C55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識別情報と版を共通にし、評価結果を削除可否へ結びつける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BF71F7E-9BDE-4BDE-8B5C-6EB212EE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03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80101BED-38CD-441B-8981-F0DCA6366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90825"/>
            <a:ext cx="31432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パターンA 第3版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定義と出現情報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FE72C076-D7E6-444E-A55F-1EF8D5C5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3830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元データ削減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三評価と保持集合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CFD55588-DC06-4D3B-8AF3-BBA9F2CA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6230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機械学習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出現情報から入力を生成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9FFDFBE5-36B1-40F7-B0F4-020FE3292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86300"/>
            <a:ext cx="4762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判定理由の説明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モデル寄与と過去の統計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FC145E17-6CA9-4796-A8BC-0345B80BB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登録済みであること、統計的に確立したこと、削除可能であることを分けて管理</a:t>
            </a:r>
          </a:p>
        </p:txBody>
      </p:sp>
    </p:spTree>
    <p:extLst>
      <p:ext uri="{BB962C8B-B14F-4D97-AF65-F5344CB8AC3E}">
        <p14:creationId xmlns:p14="http://schemas.microsoft.com/office/powerpoint/2010/main" val="2732176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3DE5F4E-F05A-4FFC-859A-48D88033F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パターンと元データの違い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CA29AF87-1B6F-4AFF-976E-7563C963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具体例、定義、出現の記録を区別する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D0F422E-DBB3-4858-8C93-A2EE7B9FF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3AD188-89E3-4696-BDBB-B8349F43BF9E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6671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38375"/>
                <a:gridCol w="5334000"/>
                <a:gridCol w="3400425"/>
              </a:tblGrid>
              <a:tr h="611188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管理対象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振動と温度の説明例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役割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611188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元データ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振動上昇の12秒後に温度上昇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観測した具体的な一例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1188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パターン定義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振動上昇の8～15秒後に温度上昇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複数例の照合に使う条件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611188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代表元データ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保持対象として選んだ実例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提示と再検討の材料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1188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出現情報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A第3版、時刻、時間差12秒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元データと独立して残す記録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611188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統計評価情報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出現率、効果量、信頼区間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確立度の評価と説明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98984B17-2F5B-4235-AD1B-7B064D43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上記は架空の説明例。代表元データとパターン定義は、実体を共有する場合も役割を分ける</a:t>
            </a:r>
          </a:p>
        </p:txBody>
      </p:sp>
    </p:spTree>
    <p:extLst>
      <p:ext uri="{BB962C8B-B14F-4D97-AF65-F5344CB8AC3E}">
        <p14:creationId xmlns:p14="http://schemas.microsoft.com/office/powerpoint/2010/main" val="19864129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headline">
            <a:extLst xmlns:a="http://schemas.openxmlformats.org/drawingml/2006/main">
              <a:ext uri="{FF2B5EF4-FFF2-40B4-BE49-F238E27FC236}">
                <a16:creationId xmlns:a16="http://schemas.microsoft.com/office/drawing/2014/main" id="{40B04F95-13ED-49BD-8752-BC203C47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本発明の処理手順（全体フロー図）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0B6F6D94-B42D-4F12-91C5-FA9B7C22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①〜⑨の工程番号に沿って、以降の手順を説明する</a:t>
            </a:r>
          </a:p>
        </p:txBody>
      </p:sp>
      <p:sp>
        <p:nvSpPr>
          <p:cNvPr id="3" name="diagram-2">
            <a:extLst xmlns:a="http://schemas.openxmlformats.org/drawingml/2006/main">
              <a:ext uri="{FF2B5EF4-FFF2-40B4-BE49-F238E27FC236}">
                <a16:creationId xmlns:a16="http://schemas.microsoft.com/office/drawing/2014/main" id="{E79E3309-7522-4826-9FDB-0E6B62BE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19812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7FE"/>
          </a:solidFill>
          <a:ln xmlns:a="http://schemas.openxmlformats.org/drawingml/2006/main" w="14288">
            <a:solidFill>
              <a:srgbClr val="0866AD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① データ収集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前処理と対象範囲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欠測と重複の規則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CE2E5D9F-BED8-441A-831E-D0E5FFFD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24025"/>
            <a:ext cx="19812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2"/>
          </a:solidFill>
          <a:ln xmlns:a="http://schemas.openxmlformats.org/drawingml/2006/main" w="14288">
            <a:solidFill>
              <a:srgbClr val="168A3B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② パターン抽出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照合と出現記録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典型・境界・未知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3BB1F8E7-5B4F-4AAE-ABF0-65B84C4A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24025"/>
            <a:ext cx="19812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C"/>
          </a:solidFill>
          <a:ln xmlns:a="http://schemas.openxmlformats.org/drawingml/2006/main" w="14288">
            <a:solidFill>
              <a:srgbClr val="CE5D08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③ パターン評価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統計的な確立度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学習の代替可能性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BEECC0D4-5DB5-491B-9168-62451A74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724025"/>
            <a:ext cx="19812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FD"/>
          </a:solidFill>
          <a:ln xmlns:a="http://schemas.openxmlformats.org/drawingml/2006/main" w="14288">
            <a:solidFill>
              <a:srgbClr val="8055AB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⑤ 保持・削除判断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保持集合を選定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三条件すべて合格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4C195D7C-2455-4167-907B-8568F8E8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724025"/>
            <a:ext cx="19812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AFC"/>
          </a:solidFill>
          <a:ln xmlns:a="http://schemas.openxmlformats.org/drawingml/2006/main" w="14288">
            <a:solidFill>
              <a:srgbClr val="08A1B4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④ 知識ベース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②から登録・更新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5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同じIDと版で管理</a:t>
            </a:r>
          </a:p>
        </p:txBody>
      </p:sp>
      <p:sp>
        <p:nvSpPr>
          <p:cNvPr id="12" name="diagram-11">
            <a:extLst xmlns:a="http://schemas.openxmlformats.org/drawingml/2006/main">
              <a:ext uri="{FF2B5EF4-FFF2-40B4-BE49-F238E27FC236}">
                <a16:creationId xmlns:a16="http://schemas.microsoft.com/office/drawing/2014/main" id="{BDDFCD64-F29A-4083-B616-CB165550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5238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FF7"/>
          </a:solidFill>
          <a:ln xmlns:a="http://schemas.openxmlformats.org/drawingml/2006/main" w="14288">
            <a:solidFill>
              <a:srgbClr val="B82B80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⑥ 機械学習での利用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利用可能なモデルと対応表で入力生成・推論</a:t>
            </a:r>
          </a:p>
        </p:txBody>
      </p:sp>
      <p:sp>
        <p:nvSpPr>
          <p:cNvPr id="13" name="diagram-12">
            <a:extLst xmlns:a="http://schemas.openxmlformats.org/drawingml/2006/main">
              <a:ext uri="{FF2B5EF4-FFF2-40B4-BE49-F238E27FC236}">
                <a16:creationId xmlns:a16="http://schemas.microsoft.com/office/drawing/2014/main" id="{37A60F08-A42F-44C7-8849-5CD2398C9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81425"/>
            <a:ext cx="5238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D"/>
          </a:solidFill>
          <a:ln xmlns:a="http://schemas.openxmlformats.org/drawingml/2006/main" w="14288">
            <a:solidFill>
              <a:srgbClr val="0866AD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⑦ 統計的評価・説明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今回のモデル寄与と、同じ版の過去統計</a:t>
            </a:r>
          </a:p>
        </p:txBody>
      </p:sp>
      <p:sp>
        <p:nvSpPr>
          <p:cNvPr id="14" name="diagram-13">
            <a:extLst xmlns:a="http://schemas.openxmlformats.org/drawingml/2006/main">
              <a:ext uri="{FF2B5EF4-FFF2-40B4-BE49-F238E27FC236}">
                <a16:creationId xmlns:a16="http://schemas.microsoft.com/office/drawing/2014/main" id="{82CC15A4-CE64-4D6C-91C5-AE2D0510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53025"/>
            <a:ext cx="676275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AF2"/>
          </a:solidFill>
          <a:ln xmlns:a="http://schemas.openxmlformats.org/drawingml/2006/main" w="14288">
            <a:solidFill>
              <a:srgbClr val="168A3B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⑧ 監視・削除停止・再抽出・再評価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影響範囲を停止し、②③④⑤を更新</a:t>
            </a:r>
          </a:p>
        </p:txBody>
      </p:sp>
      <p:sp>
        <p:nvSpPr>
          <p:cNvPr id="15" name="diagram-14">
            <a:extLst xmlns:a="http://schemas.openxmlformats.org/drawingml/2006/main">
              <a:ext uri="{FF2B5EF4-FFF2-40B4-BE49-F238E27FC236}">
                <a16:creationId xmlns:a16="http://schemas.microsoft.com/office/drawing/2014/main" id="{CB54BD93-FFB5-4945-A2AF-6A8FC6F0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53025"/>
            <a:ext cx="3771900" cy="733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5FD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⑨ 運用・継続的改善</a:t>
            </a:r>
          </a:p>
          <a:p xmlns:a="http://schemas.openxmlformats.org/drawingml/2006/main">
            <a: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新規データの取得と継続確認</a:t>
            </a:r>
          </a:p>
        </p:txBody>
      </p:sp>
      <p:sp>
        <p:nvSpPr>
          <p:cNvPr id="20" name="text-19">
            <a:extLst xmlns:a="http://schemas.openxmlformats.org/drawingml/2006/main">
              <a:ext uri="{FF2B5EF4-FFF2-40B4-BE49-F238E27FC236}">
                <a16:creationId xmlns:a16="http://schemas.microsoft.com/office/drawing/2014/main" id="{C68CD00A-86C3-45EA-B8AA-60DDFD0FF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④に必要情報を登録してから⑤で削除判断。削除後は④の参照・残存数・履歴を更新</a:t>
            </a:r>
          </a:p>
        </p:txBody>
      </p:sp>
      <p:sp>
        <p:nvSpPr>
          <p:cNvPr id="2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25BC4F9-FB2E-4E81-A75A-C61CAF333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05</a:t>
            </a:r>
          </a:p>
        </p:txBody>
      </p:sp>
      <p:cxnSp>
        <p:nvCxn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FF6D6D-ED28-46A9-8D9F-875A10C3E3E7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590800" y="248126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065C2E-3E8D-4F8E-B55C-38E1EE76CAD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838700" y="248126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2508C3-7AEE-4CE9-8BB3-03C201F3AB42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086600" y="248126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1AC66FA-7367-420E-B627-9D78AD700413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9334500" y="248126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D80A61-2666-4073-A20E-C6ABA577D984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3228975" y="3238500"/>
            <a:ext cx="7362825" cy="5429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0A6400-029F-4F3E-BC76-3A898A250056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848350" y="4229100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BA68D2-58B5-4160-B056-5B4BC83C31A3}"/>
              </a:ext>
            </a:extLst>
          </p:cNvPr>
          <p:cNvCxnSpPr>
            <a:stCxn xmlns:a="http://schemas.openxmlformats.org/drawingml/2006/main" id="13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3990975" y="4676775"/>
            <a:ext cx="497205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9E4567-E047-498A-9E95-C7524008B4EB}"/>
              </a:ext>
            </a:extLst>
          </p:cNvPr>
          <p:cNvCxnSpPr>
            <a:stCxn xmlns:a="http://schemas.openxmlformats.org/drawingml/2006/main" id="14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7372350" y="5519738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167279972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0CA103CC-A642-4AB0-860A-949F94652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全体フロー図と説明ページの対応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3B6D6D72-A9DE-4E23-AB67-FC4CE803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各工程の入力、処理、出力、次工程との関係を順に確認する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087C4D-D541-4E57-9996-ADE983E5DFA7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40671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238500"/>
                <a:gridCol w="6096000"/>
                <a:gridCol w="1638300"/>
              </a:tblGrid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工程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説明する内容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ページ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① データ収集・前処理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元データ例、対象範囲、欠測と重複の扱い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7〜8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② 抽出・照合・出現記録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既存手法、類似度分類、出現情報の数え方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9〜12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③ パターン評価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確立度と代替可能性、条件別の許可範囲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13〜15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④ 知識ベース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登録開始、ID・版、モデル台帳、情報の状態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16〜18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⑤ 保持・削除判断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三条件、保持集合、削除実行、削除後の更新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19〜22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⑥ 機械学習での利用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特徴量と学習件数、運用時の入力生成と推論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23〜24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⑦ 統計的評価・説明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モデル寄与と過去統計、同じ版の参照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25〜26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⑧ 監視・停止・再評価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停止、再構築、新規抽出、版と条件の再評価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27〜28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0671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⑨ 運用・継続的改善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取得・利用・監視・更新を繰り返す運用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29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ED19BC8B-FDA1-4C88-8D84-8D86E425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30ページ以降は、計算例、未採用案、先行特許との比較、6項の技術事項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49DC798-F15B-4058-AF20-C36A91E0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829479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adline">
            <a:extLst xmlns:a="http://schemas.openxmlformats.org/drawingml/2006/main">
              <a:ext uri="{FF2B5EF4-FFF2-40B4-BE49-F238E27FC236}">
                <a16:creationId xmlns:a16="http://schemas.microsoft.com/office/drawing/2014/main" id="{91D4B15C-C54D-42F3-B3FB-3FE077D26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① データ収集と前処理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306F0179-6734-4B1F-AAD1-60D3D2EBF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入力：センサ値と時刻・運転条件　出力：処理対象を追跡できる元データ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04A9D9-1071-4E6A-818F-CF63092128D3}"/>
              </a:ext>
            </a:extLst>
          </p:cNvPr>
          <p:cNvGraphicFramePr/>
          <p:nvPr/>
        </p:nvGraphicFramePr>
        <p:xfrm>
          <a:off xmlns:a="http://schemas.openxmlformats.org/drawingml/2006/main" x="609600" y="1771650"/>
          <a:ext xmlns:a="http://schemas.openxmlformats.org/drawingml/2006/main" cx="10972800" cy="32004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2286000"/>
                <a:gridCol w="2857500"/>
                <a:gridCol w="3543300"/>
              </a:tblGrid>
              <a:tr h="4000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時刻（秒）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振動値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温度（℃）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運転条件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4000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1.0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50.0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標準負荷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1.2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50.0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標準負荷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000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5.0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50.1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標準負荷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5.2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50.2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標準負荷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000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50.3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標準負荷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17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58.0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標準負荷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000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18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5.0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58.2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標準負荷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3F488439-F8E0-4A20-9193-D32272A9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91125"/>
            <a:ext cx="108394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時刻をそろえ、欠測を記録し、必要なノイズ処理や尺度の統一を行う。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元データID・設備・運転条件・保存先を付け、②の出現記録から参照できるようにする。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4009331-9EF2-4557-B18C-ACEADCC9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すべて架空値。抜粋していない時刻にも観測がある想定。検出条件は次の②で明示する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B7C28BC-6E06-4614-84B7-804775FF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99442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adline">
            <a:extLst xmlns:a="http://schemas.openxmlformats.org/drawingml/2006/main">
              <a:ext uri="{FF2B5EF4-FFF2-40B4-BE49-F238E27FC236}">
                <a16:creationId xmlns:a16="http://schemas.microsoft.com/office/drawing/2014/main" id="{715C2BD1-ADE4-4C5E-9E3C-296B8E98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① 対象範囲と出現単位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E40FF88E-82CD-4301-BCE0-291ED080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固定幅の窓は一例。②で数える出現の単位と分けて設定する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6DE1AB0-5A97-48AF-9C2E-25ECE29C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36511-34EC-40EB-B052-055BCCC4E756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38375"/>
                <a:gridCol w="4381500"/>
                <a:gridCol w="4352925"/>
              </a:tblGrid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方式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処理対象の決め方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出現回数の単位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固定幅の窓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30秒などの範囲を配置する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同じ元事象を重複集計しない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運転周期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加工開始から終了まで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周期内の成立事象を数える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事象を起点に参照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振動上昇から後続事象を追う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条件を満たした組合せで1件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逐次的な照合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事象を順に処理して対応づける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構成事象IDに出現IDを付与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239B0214-C24A-4D82-8E7A-947781D0D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38750"/>
            <a:ext cx="1076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出現回数、出現した周期の割合、観測時間当たりの頻度は別の指標。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3B82B8A3-5D42-49FC-8A17-516A6A27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出現の対応規則、待機期限、欠測、統計の分母を設定する。窓以外の詳細は設計候補</a:t>
            </a:r>
          </a:p>
        </p:txBody>
      </p:sp>
    </p:spTree>
    <p:extLst>
      <p:ext uri="{BB962C8B-B14F-4D97-AF65-F5344CB8AC3E}">
        <p14:creationId xmlns:p14="http://schemas.microsoft.com/office/powerpoint/2010/main" val="18781173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A389A4-810C-4B9F-957A-E009925472FF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6" idx="3"/>
          </p:cNvCxnSpPr>
          <p:nvPr/>
        </p:nvCxnSpPr>
        <p:spPr>
          <a:xfrm xmlns:a="http://schemas.openxmlformats.org/drawingml/2006/main" flipH="1">
            <a:off x="9077325" y="2809875"/>
            <a:ext cx="228600" cy="1028700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328233-FA7F-4B85-A02B-1AD6163FE004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881313" y="2809875"/>
            <a:ext cx="233363" cy="1028700"/>
          </a:xfrm>
          <a:prstGeom xmlns:a="http://schemas.openxmlformats.org/drawingml/2006/main" prst="bentConnector5">
            <a:avLst>
              <a:gd name="adj1" fmla="val 0"/>
              <a:gd name="adj2" fmla="val 22222"/>
              <a:gd name="adj3" fmla="val 2041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DC0D2-3993-42AE-89EB-4F5D16594D50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143500" y="2309813"/>
            <a:ext cx="1885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68EAA094-B7C6-4A5D-997E-362B43BC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② ログから事象とパターンへ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2AC54BA3-42CC-425B-8C49-1EEF3D40C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入力：①の元データ　出力：事象記録、パターン定義、照合結果</a:t>
            </a:r>
          </a:p>
        </p:txBody>
      </p:sp>
      <p:sp>
        <p:nvSpPr>
          <p:cNvPr id="3" name="diagram-2">
            <a:extLst xmlns:a="http://schemas.openxmlformats.org/drawingml/2006/main">
              <a:ext uri="{FF2B5EF4-FFF2-40B4-BE49-F238E27FC236}">
                <a16:creationId xmlns:a16="http://schemas.microsoft.com/office/drawing/2014/main" id="{8029895F-0E18-42FA-8F86-A2C6CED90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45243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振動上昇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開始5秒・確認6秒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振動値4以上が2点連続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CB19B11C-A983-45D6-9E30-9A2164188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809750"/>
            <a:ext cx="4524375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温度上昇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開始17秒・確認18秒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温度57℃以上が2点連続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1E9E97E1-ACD6-4D3C-9A3F-93A461D1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409950"/>
            <a:ext cx="59626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D"/>
          </a:solidFill>
          <a:ln xmlns:a="http://schemas.openxmlformats.org/drawingml/2006/main" w="14288">
            <a:solidFill>
              <a:srgbClr val="247C76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この事例の記録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振動上昇から12秒後に温度上昇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FF83D93B-C69B-4CDE-A1D2-13092DA7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33925"/>
            <a:ext cx="108394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検出閾値・連続点数・開始時刻の定義は設定が必要。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過去の複数事例に既存の系列探索や時間差の集約を適用し、定義を作る。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定義A第3版が「8〜15秒後」なら、この12秒の事例を照合する。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83D1BFAF-E3E8-49EB-9F24-6874F752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説明用の検出設定（正規化なし）。1事例だけでパターンの確立や削除許可を決めない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F771D8-3678-45E1-8F07-E1D54F8B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517545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adline">
            <a:extLst xmlns:a="http://schemas.openxmlformats.org/drawingml/2006/main">
              <a:ext uri="{FF2B5EF4-FFF2-40B4-BE49-F238E27FC236}">
                <a16:creationId xmlns:a16="http://schemas.microsoft.com/office/drawing/2014/main" id="{E24885E4-0B78-4E5F-B385-6CB4B294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② パターン抽出に利用する既存手法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8A719D83-7030-40F3-94C1-259C55E6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入力と設定を明示し、①の元データから②の記録を作る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70E8D53-122D-488B-9F70-763F2EA00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3ADF8-6A0C-4CAD-BD47-7DB1C21A5F9E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2952750"/>
                <a:gridCol w="5734050"/>
              </a:tblGrid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工程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既存手法の例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人が設定または確認するもの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事象の検出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閾値と連続点確認、PELT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上昇条件、尺度、罰則、事象の意味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事象順序の探索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PrefixSpan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系列の区切り、最低支持数、系列長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時間差の集約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DBSCAN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距離、最小点数、群を採用する基準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770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波形からの探索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Matrix Profile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部分系列長、距離、正規化、重複除外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4249FE8C-C411-4FD0-A7A6-6375E37A6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76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既存手法を使っても、全設定や事象の意味が自動的に決まるわけではない。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34D59830-B71E-46F0-B28E-16B81D05D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これらは選択肢。全手法を現在案の採用済み構成とするものではない</a:t>
            </a:r>
          </a:p>
        </p:txBody>
      </p:sp>
    </p:spTree>
    <p:extLst>
      <p:ext uri="{BB962C8B-B14F-4D97-AF65-F5344CB8AC3E}">
        <p14:creationId xmlns:p14="http://schemas.microsoft.com/office/powerpoint/2010/main" val="2358786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E6162E8E-A607-4730-A5F3-7CA4D4CCC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② 典型・境界・未知の分類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1A7D5778-1A44-4437-BE27-CA37659B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登録済み定義との一致度で分類し、⑤の削除候補と保護対象を分ける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FA18ABF-A100-4796-AA87-52F2452E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11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A5F98714-FB14-48EF-9640-D01EB2FE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3"/>
          </a:solidFill>
          <a:ln xmlns:a="http://schemas.openxmlformats.org/drawingml/2006/main" w="14288">
            <a:solidFill>
              <a:srgbClr val="586872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未知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対応範囲の外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273A61C3-3681-406B-B490-EBDA3DCEB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00025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4"/>
          </a:solidFill>
          <a:ln xmlns:a="http://schemas.openxmlformats.org/drawingml/2006/main" w="14288">
            <a:solidFill>
              <a:srgbClr val="B17A26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境界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対応可能だが典型範囲外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ABBC1230-0286-4665-A093-BBE8600C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D"/>
          </a:solidFill>
          <a:ln xmlns:a="http://schemas.openxmlformats.org/drawingml/2006/main" w="14288">
            <a:solidFill>
              <a:srgbClr val="247C76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定義によく一致する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7CF1904-54D7-46DC-8699-B5B679D2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8576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対応閾値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8CE158D-4B8F-4E0C-A57F-974678481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5762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典型閾値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812DFF81-D4CD-40C1-A30D-6358CAE6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476750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1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一致度が高い方向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C3DF3E9C-37B4-40B0-AF0A-EE3DBA89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4827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境界と未知の元データは保持。典型は削除候補にとどめる。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7ECFF1E9-7C39-44EA-A2E6-4DC05059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出現回数の大小や正常・異常とは別の分類。距離で定義する方式では大小関係が逆になる</a:t>
            </a:r>
          </a:p>
        </p:txBody>
      </p:sp>
    </p:spTree>
    <p:extLst>
      <p:ext uri="{BB962C8B-B14F-4D97-AF65-F5344CB8AC3E}">
        <p14:creationId xmlns:p14="http://schemas.microsoft.com/office/powerpoint/2010/main" val="18504235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adline">
            <a:extLst xmlns:a="http://schemas.openxmlformats.org/drawingml/2006/main">
              <a:ext uri="{FF2B5EF4-FFF2-40B4-BE49-F238E27FC236}">
                <a16:creationId xmlns:a16="http://schemas.microsoft.com/office/drawing/2014/main" id="{98C2791D-A872-43EF-9C4F-0F477E6C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② 出現情報の記録と数え方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19213CF6-A665-4F36-8B44-8D9594B8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同じ実事象が複数の解析範囲に含まれても、出現IDを共通にして数える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42056A-1315-46F4-93B4-CE06D004367C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3147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048000"/>
                <a:gridCol w="7924800"/>
              </a:tblGrid>
              <a:tr h="5524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管理項目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この架空例での記録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5524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照合先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パターンA第3版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構成事象と出現ID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振動事象V5、温度事象T17、出現O001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524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時刻と時間差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開始5秒、後続17秒、時間差12秒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範囲と出現回数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0〜30秒と2〜32秒の両範囲に含まれても、O001は1件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5245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参照と条件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元データR001、設備、標準負荷、収集の欠測状態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39DE647-D386-4A10-8A8C-BDAC7A138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76850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出現回数、出現した運転周期の割合、観測時間当たりの頻度は別に集計する。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正しい分母と重複除外規則を決めて③の統計評価へ渡す。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0308B2F3-B0C6-48A6-8935-9160E42DA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一致条件や事象の組合せ規則も版で管理する。未知は所属パターンを推定で確定させない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C41025A-E65A-4795-90F4-FFA92D41C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193532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EF4B7A-9D0C-428B-AC78-6A49B2A205FC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5562600" y="4191000"/>
            <a:ext cx="10572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4E3720-9569-44B5-8C8D-909989DF8000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096375" y="2619375"/>
            <a:ext cx="0" cy="1047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88FF7-D3F0-4065-897A-D335E943DAD9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562600" y="2190750"/>
            <a:ext cx="10572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3" name="headline">
            <a:extLst xmlns:a="http://schemas.openxmlformats.org/drawingml/2006/main">
              <a:ext uri="{FF2B5EF4-FFF2-40B4-BE49-F238E27FC236}">
                <a16:creationId xmlns:a16="http://schemas.microsoft.com/office/drawing/2014/main" id="{02D2E89E-9DB9-4D65-921F-2569739F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③ 統計的な確立度の評価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A3E9B09D-A033-411F-BFC2-5246C8DD7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入力：②の出現情報と運転条件　出力：条件別の評価と、その根拠</a:t>
            </a:r>
          </a:p>
        </p:txBody>
      </p:sp>
      <p:sp>
        <p:nvSpPr>
          <p:cNvPr id="3" name="diagram-2">
            <a:extLst xmlns:a="http://schemas.openxmlformats.org/drawingml/2006/main">
              <a:ext uri="{FF2B5EF4-FFF2-40B4-BE49-F238E27FC236}">
                <a16:creationId xmlns:a16="http://schemas.microsoft.com/office/drawing/2014/main" id="{AB53E549-DDAB-4CC6-B5E3-7A343931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4953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出現情報を集計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出現数・観測期間・対象数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84D3A188-28BD-4165-B805-D28B26CD2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762125"/>
            <a:ext cx="4953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条件ごとに分ける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設備・負荷・期間など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C1B30CC6-BEEC-44D2-AACE-863767BB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667125"/>
            <a:ext cx="495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不確かさと再現性を確認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信頼区間の幅、期間を変えた結果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BF577D99-84F2-4839-B8F8-C8589082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4953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D"/>
          </a:solidFill>
          <a:ln xmlns:a="http://schemas.openxmlformats.org/drawingml/2006/main" w="14288">
            <a:solidFill>
              <a:srgbClr val="247C76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基準を満たした範囲を記録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不足・未評価の条件は未確認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9BAF6309-1C7D-477B-BCF2-A18391A5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0839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出現数が多いことだけで確立としない。正常・異常のどちらのパターンも評価対象。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基準や許容する不確かさは用途に応じて設定し、④に記録する。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F36EA370-4FD2-4ED5-933D-62A0CE1AE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確立度の合格と、学習代替性や削除許可は別の評価。統計手法自体は既存手法を用いる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E7D262D-7497-414F-B192-A6185567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4933987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35895D-FFE9-4440-A051-C7F3EC5C9C11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8" idx="3"/>
          </p:cNvCxnSpPr>
          <p:nvPr/>
        </p:nvCxnSpPr>
        <p:spPr>
          <a:xfrm xmlns:a="http://schemas.openxmlformats.org/drawingml/2006/main">
            <a:off x="9291638" y="3952875"/>
            <a:ext cx="423863" cy="1228725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C68B54-42DF-447E-9E74-0B9D35C63F78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8" idx="1"/>
          </p:cNvCxnSpPr>
          <p:nvPr/>
        </p:nvCxnSpPr>
        <p:spPr>
          <a:xfrm xmlns:a="http://schemas.openxmlformats.org/drawingml/2006/main" flipH="1">
            <a:off x="2495550" y="3952875"/>
            <a:ext cx="404813" cy="1228725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5DF957-069B-441C-8064-6D16A305E110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291638" y="2638425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979598-6949-4728-B4B1-5B57A0CF048F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2900363" y="2638425"/>
            <a:ext cx="0" cy="5524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4" name="headline">
            <a:extLst xmlns:a="http://schemas.openxmlformats.org/drawingml/2006/main">
              <a:ext uri="{FF2B5EF4-FFF2-40B4-BE49-F238E27FC236}">
                <a16:creationId xmlns:a16="http://schemas.microsoft.com/office/drawing/2014/main" id="{374BACD4-2EDC-4081-B966-A9051972A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③ 元データ側と出現情報側の性能比較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66747C7F-9C6C-444F-B4D8-F96F972B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削除前に双方を学習し、同じ予測対象と共通の検証事例で比較する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57276FD-AE11-43C2-A622-10BBB2E0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14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993AC1D5-AE73-4A1B-AEB3-52650A09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81175"/>
            <a:ext cx="4524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元データ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波形や元データ由来の特徴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576D34B0-FCA1-4D68-AFF0-BE6ECF25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190875"/>
            <a:ext cx="45243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比較基準のモデル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A4D9A10D-140E-4530-96AA-9911F2DC7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781175"/>
            <a:ext cx="45243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回数、時間差、継続時間など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8C9CF389-A2A9-4789-ACFE-E081289D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190875"/>
            <a:ext cx="4524375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代替候補のモデル</a:t>
            </a:r>
          </a:p>
        </p:txBody>
      </p:sp>
      <p:sp>
        <p:nvSpPr>
          <p:cNvPr id="8" name="diagram-7">
            <a:extLst xmlns:a="http://schemas.openxmlformats.org/drawingml/2006/main">
              <a:ext uri="{FF2B5EF4-FFF2-40B4-BE49-F238E27FC236}">
                <a16:creationId xmlns:a16="http://schemas.microsoft.com/office/drawing/2014/main" id="{F0EDADE7-7954-4887-8A80-801BE7C1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76775"/>
            <a:ext cx="676275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D"/>
          </a:solidFill>
          <a:ln xmlns:a="http://schemas.openxmlformats.org/drawingml/2006/main" w="14288">
            <a:solidFill>
              <a:srgbClr val="247C76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共通の検証事例で評価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見逃し、誤警報、条件別性能と不確かさ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F9B28404-9F5C-48FC-9CA9-98A1966D0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入力が異なるため、それぞれに適したモデルを学習できる。許容差は評価前に設定する</a:t>
            </a:r>
          </a:p>
        </p:txBody>
      </p:sp>
    </p:spTree>
    <p:extLst>
      <p:ext uri="{BB962C8B-B14F-4D97-AF65-F5344CB8AC3E}">
        <p14:creationId xmlns:p14="http://schemas.microsoft.com/office/powerpoint/2010/main" val="20870901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3FFEF25E-B4FE-4700-8AE2-DD24037D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③ 評価済みの範囲と削除許可の単位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11D1F043-A25A-4782-9CA2-A3157C58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同じパターンでも、モデル・版・運転条件が違えば結果を流用しない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4CCF5-BBCF-4F40-A41F-75D88C55B2A1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190875"/>
                <a:gridCol w="7781925"/>
              </a:tblGrid>
              <a:tr h="5715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確認する範囲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記録・判断すること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5715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パターン定義と版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照合条件を固定し、どの出現情報で評価したかを記録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モデルと入力対応表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元データ側・出現情報側のモデルと入力生成条件を固定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715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共通の検証事例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同じ予測対象、利用可能な時点の情報、正解ラベルで比較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運転条件ごとの性能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全体平均に加え、条件別の見逃し・誤警報・不確かさを確認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71500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検証例が足りない条件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確認済みとせず、その条件での削除を許可しない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AF1712DA-8630-4FBF-8719-54464098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許容性能差は評価前に設定する。「有意差が出なかった」だけでは代替性の証明にしない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40F3207-28E5-4960-89DD-9B2D3634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037934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E2F477-C96C-49B1-8FE1-5204C57FC3DB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77150" y="3552825"/>
            <a:ext cx="1133475" cy="1504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586145-E4BC-412D-A5CC-73CF1044733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7677150" y="2238375"/>
            <a:ext cx="1133475" cy="13144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A9E24-D688-4707-A8F9-A2CB832DD41F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 flipV="1">
            <a:off x="3429000" y="3552825"/>
            <a:ext cx="1104900" cy="1504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25E4E-A759-42C5-AA98-E425912AC700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429000" y="2238375"/>
            <a:ext cx="1104900" cy="13144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5" name="headline">
            <a:extLst xmlns:a="http://schemas.openxmlformats.org/drawingml/2006/main">
              <a:ext uri="{FF2B5EF4-FFF2-40B4-BE49-F238E27FC236}">
                <a16:creationId xmlns:a16="http://schemas.microsoft.com/office/drawing/2014/main" id="{544F387B-B673-49BC-B0AF-DB0E8548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④ 知識ベースで対応づける情報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5F9B6C9E-E73E-4CCC-BC2B-E0835465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②の登録から⑧の更新まで、同じパターンID・版を参照する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BDCFB57-F53A-46BF-9232-9CCA980A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16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F2DCD5B9-059C-4650-8A0E-4BF7727B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028950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パターンIDと版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75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A 第3版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3A094E72-B382-4716-B540-78EBC1BD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28098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定義と照合条件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4D6D1141-6DC0-4976-A005-85AEA4F9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629150"/>
            <a:ext cx="28098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出現情報と統計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06B552E7-F3F0-48E2-A1A3-BC7F39D3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809750"/>
            <a:ext cx="28098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7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元データ参照と保持理由</a:t>
            </a:r>
          </a:p>
        </p:txBody>
      </p:sp>
      <p:sp>
        <p:nvSpPr>
          <p:cNvPr id="8" name="diagram-7">
            <a:extLst xmlns:a="http://schemas.openxmlformats.org/drawingml/2006/main">
              <a:ext uri="{FF2B5EF4-FFF2-40B4-BE49-F238E27FC236}">
                <a16:creationId xmlns:a16="http://schemas.microsoft.com/office/drawing/2014/main" id="{28922560-90CB-4041-A5BE-4613F8F53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629150"/>
            <a:ext cx="280987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モデルと入力対応表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9D8393F6-9227-4ADB-8BAA-A96325D7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391150"/>
            <a:ext cx="6667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三評価と適用範囲に対応した削除許可も記録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596B6C99-5049-4E09-92C8-C26B5CC2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知識ベースは論理的な役割。同じ装置や同じデータベースに実装してよい</a:t>
            </a:r>
          </a:p>
        </p:txBody>
      </p:sp>
    </p:spTree>
    <p:extLst>
      <p:ext uri="{BB962C8B-B14F-4D97-AF65-F5344CB8AC3E}">
        <p14:creationId xmlns:p14="http://schemas.microsoft.com/office/powerpoint/2010/main" val="125941570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084AF2-0E1C-4969-95CA-49DAA7092554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429500" y="5119688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97636B-5B70-4618-BFE3-BD61776C22A6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667125" y="5119688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1" name="headline">
            <a:extLst xmlns:a="http://schemas.openxmlformats.org/drawingml/2006/main">
              <a:ext uri="{FF2B5EF4-FFF2-40B4-BE49-F238E27FC236}">
                <a16:creationId xmlns:a16="http://schemas.microsoft.com/office/drawing/2014/main" id="{A910110D-E2D7-49C3-B731-2E229CAE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④ モデルとパターンの対応表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9B9D32A5-C73A-4FDB-962C-D5270CA97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学習前に対応を決め、③の検証と⑥の推論と⑦の説明で共通利用する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D94A470-24B4-43B8-BE94-1252F069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80E5B-6260-481F-A8FD-4BE11991FED2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42887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428750"/>
                <a:gridCol w="2190750"/>
                <a:gridCol w="5334000"/>
                <a:gridCol w="2019300"/>
              </a:tblGrid>
              <a:tr h="607219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入力位置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対応する定義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集計項目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今回の値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607219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x1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A 第3版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直近1時間の出現回数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7219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x2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A 第3版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直近1時間の平均継続時間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12秒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607219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x3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B 第2版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直近1時間の出現回数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diagram-3">
            <a:extLst xmlns:a="http://schemas.openxmlformats.org/drawingml/2006/main">
              <a:ext uri="{FF2B5EF4-FFF2-40B4-BE49-F238E27FC236}">
                <a16:creationId xmlns:a16="http://schemas.microsoft.com/office/drawing/2014/main" id="{E4AFE2B0-AD0E-4A7B-A759-CF105DEF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762500"/>
            <a:ext cx="3048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モデルM 第1版</a:t>
            </a:r>
          </a:p>
        </p:txBody>
      </p:sp>
      <p:sp>
        <p:nvSpPr>
          <p:cNvPr id="6" name="diagram-4">
            <a:extLst xmlns:a="http://schemas.openxmlformats.org/drawingml/2006/main">
              <a:ext uri="{FF2B5EF4-FFF2-40B4-BE49-F238E27FC236}">
                <a16:creationId xmlns:a16="http://schemas.microsoft.com/office/drawing/2014/main" id="{AB035031-DE43-41F2-B52D-2250F6E3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62500"/>
            <a:ext cx="28575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台帳R001</a:t>
            </a:r>
          </a:p>
        </p:txBody>
      </p:sp>
      <p:sp>
        <p:nvSpPr>
          <p:cNvPr id="7" name="diagram-5">
            <a:extLst xmlns:a="http://schemas.openxmlformats.org/drawingml/2006/main">
              <a:ext uri="{FF2B5EF4-FFF2-40B4-BE49-F238E27FC236}">
                <a16:creationId xmlns:a16="http://schemas.microsoft.com/office/drawing/2014/main" id="{7F14D1AE-C591-4F55-A781-04291D3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762500"/>
            <a:ext cx="314325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対応表T 第2版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96160098-2340-47D1-B613-5B9B5B4EE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数値入力は［5, 12, 2］。紐づけ用ID自体は入力しない。必要版の欠落や不一致なら停止</a:t>
            </a:r>
          </a:p>
        </p:txBody>
      </p:sp>
    </p:spTree>
    <p:extLst>
      <p:ext uri="{BB962C8B-B14F-4D97-AF65-F5344CB8AC3E}">
        <p14:creationId xmlns:p14="http://schemas.microsoft.com/office/powerpoint/2010/main" val="204849198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43B1E45E-494F-47C5-BA50-615288AE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④ 登録状態と評価状態と削除許可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F6F22FDA-2254-4078-8E5E-9170CF20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④は②で登録を開始し、③⑤⑥⑦⑧から参照・更新する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901307-20EB-44B2-94F4-5ADF5B0A0AF4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238500"/>
                <a:gridCol w="7734300"/>
              </a:tblGrid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区別する状態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意味と更新の契機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登録済みパターン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②でID・版・定義を知識ベースへ登録。候補も含む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候補／確立パターン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③の確立度基準を満たしたか。代替性・削除許可とは別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典型／境界／未知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②における個々のデータの照合分類。パターンの件数ではない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削除許可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③の二評価と⑤の保持条件に合格した版・モデル・条件の範囲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削除後の更新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過去の出現回数は維持し、参照・残存数・削除履歴を更新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更新した版の扱い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⑧で対応表・モデル・統計を更新し、三評価をやり直す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78D2DAB-7FD8-4796-B32A-8B8290B84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旧版の履歴は保存する。定義・入力項目・統計・元データ参照の役割を分けて管理する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6CF0F6-2670-43BE-9BA3-837177460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592917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877ACE-F96B-4F93-AFE5-BB226DBE3905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7620000" y="3419475"/>
            <a:ext cx="1343025" cy="12430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82F0B-2A1E-4017-9694-8B408EB055F5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20000" y="3395663"/>
            <a:ext cx="1343025" cy="238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5C77D5-8725-45BC-A85F-F98A00666E9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620000" y="2128838"/>
            <a:ext cx="1343025" cy="12906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73C1B72B-B485-4F99-8B79-35D9B85C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⑤ 削除を許可する三つの評価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2B5715CB-0E19-4545-BCAC-52E3B180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③の確立度・代替性と、⑤の保持数・構成を同じ適用範囲で確認する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0C98796-C724-4DA8-BB32-218A49EE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19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5F24F6A7-24EB-4FC5-B73A-7D2D3145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85925"/>
            <a:ext cx="700087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統計的な確立度</a:t>
            </a:r>
          </a:p>
          <a:p xmlns:a="http://schemas.openxmlformats.org/drawingml/2006/main">
            <a: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出現数、不確かさ、再現性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D05D18C3-49E7-421D-8E7F-DF88924D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0"/>
            <a:ext cx="700087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機械学習の代替可能性</a:t>
            </a:r>
          </a:p>
          <a:p xmlns:a="http://schemas.openxmlformats.org/drawingml/2006/main">
            <a: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出現情報への置換で性能を維持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7C35041F-3159-4057-AD98-5E49A5DF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19575"/>
            <a:ext cx="7000875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最低保持数と保持構成</a:t>
            </a:r>
          </a:p>
          <a:p xmlns:a="http://schemas.openxmlformats.org/drawingml/2006/main">
            <a:pPr algn="ctr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必要区分が削除後も残る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4DC94F79-6819-4300-890D-A4665E97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705100"/>
            <a:ext cx="26098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D"/>
          </a:solidFill>
          <a:ln xmlns:a="http://schemas.openxmlformats.org/drawingml/2006/main" w="14288">
            <a:solidFill>
              <a:srgbClr val="247C76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すべて合格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保持集合外の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典型だけ削除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0392D7B4-0819-4359-A0BF-929C4C7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rPr>
              <a:t>未達・未評価の項目が一つでもあれば削除しない。典型や高頻度だけでは許可しない</a:t>
            </a:r>
          </a:p>
        </p:txBody>
      </p:sp>
    </p:spTree>
    <p:extLst>
      <p:ext uri="{BB962C8B-B14F-4D97-AF65-F5344CB8AC3E}">
        <p14:creationId xmlns:p14="http://schemas.microsoft.com/office/powerpoint/2010/main" val="89311926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3A0F010-3FE2-4A34-94B1-E806A97C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⑤ 最低保持数と保持構成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E754543E-F1BF-459F-86B3-012D960F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削除前に保持集合を選び、必要な区分が削除後にも残ることを確認する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0030CEC-AFF8-48D8-A675-CB9272A41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AF99D-F1F2-4E88-9480-CBB7E1E4E4D4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619500"/>
                <a:gridCol w="7353300"/>
              </a:tblGrid>
              <a:tr h="58737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保持する区分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残す理由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58737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代表例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パターンの具体例を提示する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737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典型内の変動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時間差や強度の違いを失わない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8737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最近例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直近の状態を反映する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8737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希少な運転条件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高負荷や特定設備の例を失わない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8737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境界と未知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再構築や新規抽出の材料を残す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627BD3ED-BA1B-47AB-88B1-C156B1EA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総数が足りても必要区分が欠ければ削除しない。同じ実例の区分重複を二重に数えない</a:t>
            </a:r>
          </a:p>
        </p:txBody>
      </p:sp>
    </p:spTree>
    <p:extLst>
      <p:ext uri="{BB962C8B-B14F-4D97-AF65-F5344CB8AC3E}">
        <p14:creationId xmlns:p14="http://schemas.microsoft.com/office/powerpoint/2010/main" val="151452662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91F32-926F-438E-922D-7BE2BFD14E23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7334250" y="4752975"/>
            <a:ext cx="1181100" cy="2762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F3A69C-56E5-41AE-8A4B-17CAAB122CA6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3976688" y="3981450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5DE3B2-736D-4EF6-BE71-414FB93E6DF4}"/>
              </a:ext>
            </a:extLst>
          </p:cNvPr>
          <p:cNvCxnSpPr>
            <a:stCxn xmlns:a="http://schemas.openxmlformats.org/drawingml/2006/main" id="3" idx="2"/>
            <a:endCxn xmlns:a="http://schemas.openxmlformats.org/drawingml/2006/main" id="4" idx="0"/>
          </p:cNvCxnSpPr>
          <p:nvPr/>
        </p:nvCxnSpPr>
        <p:spPr>
          <a:xfrm xmlns:a="http://schemas.openxmlformats.org/drawingml/2006/main" flipH="1">
            <a:off x="3976688" y="2438400"/>
            <a:ext cx="2109788" cy="5905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3" name="headline">
            <a:extLst xmlns:a="http://schemas.openxmlformats.org/drawingml/2006/main">
              <a:ext uri="{FF2B5EF4-FFF2-40B4-BE49-F238E27FC236}">
                <a16:creationId xmlns:a16="http://schemas.microsoft.com/office/drawing/2014/main" id="{4914596F-B01E-4944-BE8B-C72CF565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⑤ 削除を実行する対象の決定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11125157-12A8-4FB3-B132-1355F34E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③の二評価に、削除後の保持数・保持構成の確認を加える</a:t>
            </a:r>
          </a:p>
        </p:txBody>
      </p:sp>
      <p:sp>
        <p:nvSpPr>
          <p:cNvPr id="3" name="diagram-2">
            <a:extLst xmlns:a="http://schemas.openxmlformats.org/drawingml/2006/main">
              <a:ext uri="{FF2B5EF4-FFF2-40B4-BE49-F238E27FC236}">
                <a16:creationId xmlns:a16="http://schemas.microsoft.com/office/drawing/2014/main" id="{3F408AF1-AD54-4527-80FD-8F156B2B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10934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典型データの候補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境界・未知などの保護対象は除外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BD049921-A351-4303-8BDA-525FC4328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28950"/>
            <a:ext cx="67151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パターン版・モデル・運転条件が許可範囲内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確立度・代替性・保持条件がすべて合格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490C6D85-D9C3-4198-BB1F-8328B8AE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52950"/>
            <a:ext cx="67151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保持集合の外にある余剰分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共有する元データの別の保持理由も確認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ADE75CB2-F3DB-4474-8212-B68A1EE0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00500"/>
            <a:ext cx="303847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9E4"/>
          </a:solidFill>
          <a:ln xmlns:a="http://schemas.openxmlformats.org/drawingml/2006/main" w="14288">
            <a:solidFill>
              <a:srgbClr val="B3533C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条件を満たす対象だけ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物理削除を実行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結果を④へ反映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E1271FF3-DADD-4BAB-92CA-B72FCDE9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95575"/>
            <a:ext cx="31908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一つでも未達・未評価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又は保護理由あり</a:t>
            </a:r>
          </a:p>
          <a:p xmlns:a="http://schemas.openxmlformats.org/drawingml/2006/main">
            <a:pPr algn="l">
              <a:buNone/>
              <a:def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元データを保持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29A9D189-5836-4F03-B0FB-0746644F1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削除を見送っても、利用条件を満たすモデルでの推論・説明は続けられる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5E506C-CFB2-4289-8CA7-841BC0EF4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9730061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adline">
            <a:extLst xmlns:a="http://schemas.openxmlformats.org/drawingml/2006/main">
              <a:ext uri="{FF2B5EF4-FFF2-40B4-BE49-F238E27FC236}">
                <a16:creationId xmlns:a16="http://schemas.microsoft.com/office/drawing/2014/main" id="{CC5B6110-0124-465D-B9BF-6BB14814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⑤ 削除後の更新と④への反映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D693FF57-7269-4646-9087-6069DFA1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元データの保存状況だけを更新し、過去の出現履歴と統計は維持する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7A4A6BE-A5B5-4822-B239-DB6CCA5A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A257DD-64BD-48C1-930C-5B5954BF2E7C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1432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524250"/>
                <a:gridCol w="3476625"/>
                <a:gridCol w="3971925"/>
              </a:tblGrid>
              <a:tr h="6286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管理情報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削除前の説明例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6286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過去の出現回数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1,000回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1,000回のまま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残存する元データ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1,000区間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100区間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6286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元データの保存先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すべて有効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削除した実体の参照を更新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286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削除履歴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未実行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対象・時刻・許可範囲・結果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87D0AC2F-4033-469A-882B-5EAD03AA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1076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残った元データだけで過去の統計を取り直すと、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保持対象の選び方による偏りが生じる。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3F586822-30F8-4617-8A7E-F3337C8F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架空例は1出現と1区間が対応する場合。共有範囲では他の保持理由も確認する</a:t>
            </a:r>
          </a:p>
        </p:txBody>
      </p:sp>
    </p:spTree>
    <p:extLst>
      <p:ext uri="{BB962C8B-B14F-4D97-AF65-F5344CB8AC3E}">
        <p14:creationId xmlns:p14="http://schemas.microsoft.com/office/powerpoint/2010/main" val="75345436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adline">
            <a:extLst xmlns:a="http://schemas.openxmlformats.org/drawingml/2006/main">
              <a:ext uri="{FF2B5EF4-FFF2-40B4-BE49-F238E27FC236}">
                <a16:creationId xmlns:a16="http://schemas.microsoft.com/office/drawing/2014/main" id="{4961CA17-38E1-4D78-ACE7-DF8A544D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⑥ モデル入力と学習件数と統計情報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C7B76A58-556D-44B9-9BD9-4571E3A94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出現回数は入力候補。削除後も、各事例の入力を保存情報から作れるようにする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F415EDC-B7E0-4553-BF12-EF87B28B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C03B3A-3B67-4173-AD61-E4DB18D716A3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571750"/>
                <a:gridCol w="3571875"/>
                <a:gridCol w="4829175"/>
              </a:tblGrid>
              <a:tr h="678656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情報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役割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678656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判定対象内の特徴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直近1時間にAが5回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今回の状態を判定する入力候補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学習事例の件数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1,000運転それぞれに1行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学習する分布を形成する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678656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履歴の統計評価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正常時4%、異常時60%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7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確立度評価と説明の根拠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77E95253-440D-4712-88E5-F4DC64BE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53000"/>
            <a:ext cx="10763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特徴量は既存の一般的な方法で選び、別データで検証する。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1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削除後も保存情報から生成できることを追加で確認する。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536B91AA-5EA6-4932-9210-99CF73DE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有無・継続時間・時間差なども候補。信頼区間等で学習重みを直接制御する案は未採用</a:t>
            </a:r>
          </a:p>
        </p:txBody>
      </p:sp>
    </p:spTree>
    <p:extLst>
      <p:ext uri="{BB962C8B-B14F-4D97-AF65-F5344CB8AC3E}">
        <p14:creationId xmlns:p14="http://schemas.microsoft.com/office/powerpoint/2010/main" val="185873646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D846FD-41FD-4EAF-81B0-CDC0BF12DA2B}"/>
              </a:ext>
            </a:extLst>
          </p:cNvPr>
          <p:cNvCxnSpPr>
            <a:stCxn xmlns:a="http://schemas.openxmlformats.org/drawingml/2006/main" id="5" idx="1"/>
            <a:endCxn xmlns:a="http://schemas.openxmlformats.org/drawingml/2006/main" id="6" idx="3"/>
          </p:cNvCxnSpPr>
          <p:nvPr/>
        </p:nvCxnSpPr>
        <p:spPr>
          <a:xfrm xmlns:a="http://schemas.openxmlformats.org/drawingml/2006/main" flipH="1">
            <a:off x="5476875" y="4314825"/>
            <a:ext cx="12287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DD0598-1A53-41C4-AD7A-47F860DCB36B}"/>
              </a:ext>
            </a:extLst>
          </p:cNvPr>
          <p:cNvCxnSpPr>
            <a:stCxn xmlns:a="http://schemas.openxmlformats.org/drawingml/2006/main" id="4" idx="2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9134475" y="2628900"/>
            <a:ext cx="0" cy="11906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F7F6F2-8084-469E-9157-73E16CA579DA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476875" y="2190750"/>
            <a:ext cx="12287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3" name="headline">
            <a:extLst xmlns:a="http://schemas.openxmlformats.org/drawingml/2006/main">
              <a:ext uri="{FF2B5EF4-FFF2-40B4-BE49-F238E27FC236}">
                <a16:creationId xmlns:a16="http://schemas.microsoft.com/office/drawing/2014/main" id="{BD51BFE4-7FD5-49F4-96D3-023C3EE04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⑥ 運用時の入力生成と推論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50CB238F-00D5-4340-925B-702C801E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③で検証したモデルと、④で管理する対応表の組を使う</a:t>
            </a:r>
          </a:p>
        </p:txBody>
      </p:sp>
      <p:sp>
        <p:nvSpPr>
          <p:cNvPr id="3" name="diagram-2">
            <a:extLst xmlns:a="http://schemas.openxmlformats.org/drawingml/2006/main">
              <a:ext uri="{FF2B5EF4-FFF2-40B4-BE49-F238E27FC236}">
                <a16:creationId xmlns:a16="http://schemas.microsoft.com/office/drawing/2014/main" id="{CCFE2923-0431-4DBF-8361-E08BF76FC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52600"/>
            <a:ext cx="4857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利用するモデルを指定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台帳から対応表を解決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CCF275C1-75BB-4E0D-AA76-131B64274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4857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指定した版の出現情報を集計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順序・単位・欠測・正規化を適用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20923A0A-6B9D-4A6D-BFF5-A109CEB1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9525"/>
            <a:ext cx="4857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数値入力の一致を確認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例［5, 12, 2］で推論する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FD2AC965-2077-4AD3-9A32-F78ACA0D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819525"/>
            <a:ext cx="4857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D"/>
          </a:solidFill>
          <a:ln xmlns:a="http://schemas.openxmlformats.org/drawingml/2006/main" w="14288">
            <a:solidFill>
              <a:srgbClr val="247C76"/>
            </a:solidFill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判定結果と入力位置ごとの寄与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モデル版・対応表版とともに⑦へ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FD7D7E7C-DFCD-4A5B-A9D1-961EA809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48275"/>
            <a:ext cx="1083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Aが出現しない場合の平均時間を0とする例でも、収集欠測は別に扱う。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必要なパターン版の欠落や入力不一致なら停止・通知する。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F9955C34-DD37-42A7-9301-748890BB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一つのモデルに複数パターンの特徴を入力できる。再学習した組は再評価して利用する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6E8351-5C33-4F59-93BE-1C4B27F14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92464861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line">
            <a:extLst xmlns:a="http://schemas.openxmlformats.org/drawingml/2006/main">
              <a:ext uri="{FF2B5EF4-FFF2-40B4-BE49-F238E27FC236}">
                <a16:creationId xmlns:a16="http://schemas.microsoft.com/office/drawing/2014/main" id="{8E363687-51A1-459A-AFDA-2D9F94CE9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⑦ 推論結果と過去の統計の説明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D57DB1B1-FE7D-4E97-AC8E-5AAAD979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⑥のモデル寄与と、④から取得した同じ版の過去統計を併記する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D743D28-BAFA-44B7-A0CA-CFB2EF7BC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25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AF6F085-010A-4377-A5D9-CCCD49629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今回のモデル上の寄与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FC173B1-9FE9-4370-9AB7-EA430765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入力［5, 12, 2］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説明用モデル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判定値 = −3 + 0.5x1 + 0.1x2 + 0.2x3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寄与は +2.5、+1.2、+0.4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合計1.1で異常側と判定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E063A91-47EE-4C61-B07C-B97C407B9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同じパターン版の過去の関連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F40101DB-2966-4F5A-A2C8-C14CBE176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別の架空の観測集合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正常1,000区間中40区間にA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異常200区間中120区間にA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出現率は4%と60%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期間、条件、対象数、区間を併記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9FB2EF71-999A-45AA-8EEE-4B5FA7DB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左の係数は説明用。右の関連はモデルの寄与や異常原因を直接証明しない</a:t>
            </a:r>
          </a:p>
        </p:txBody>
      </p:sp>
    </p:spTree>
    <p:extLst>
      <p:ext uri="{BB962C8B-B14F-4D97-AF65-F5344CB8AC3E}">
        <p14:creationId xmlns:p14="http://schemas.microsoft.com/office/powerpoint/2010/main" val="57129339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FF9DC1A1-2DA3-4E6A-AC3C-EB92B71C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⑦ 統計情報の参照と説明の生成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9B787CB0-0767-44A9-887B-71681A14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モデルの重みから直接たどらず、入力項目とパターン版の対応を使う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F81BF-90E7-4570-BFA9-75D845BBD21A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4766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190875"/>
                <a:gridCol w="7781925"/>
              </a:tblGrid>
              <a:tr h="57943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参照の順序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この説明例で行うこと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57943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⑥の結果を受け取る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モデルM第1版、対応表T第2版、入力値と各入力の寄与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943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④の対応表で参照先を解決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x1とx2はA第3版、x3はB第2版の集計項目と確認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7943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同じ版の統計を取得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出現率・効果量・信頼区間・対象数・期間・運転条件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943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二つの意味を分けて表示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今回のモデルに対する寄与と、過去に観測した統計的関連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79438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統計の範囲・対象数が不足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未確認・対象数不足などを示し、別条件の値で埋めない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D9CC159E-9B16-40AD-8751-40AC7DB4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異常の原因を証明する表示ではない。一般のモデルの各重みとパターンは一対一にならない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B5E58B-3B1C-4193-BA48-5B189601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3327296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EF2B30-BA88-4659-9BD5-3FAF92B35159}"/>
              </a:ext>
            </a:extLst>
          </p:cNvPr>
          <p:cNvCxnSpPr>
            <a:stCxn xmlns:a="http://schemas.openxmlformats.org/drawingml/2006/main" id="7" idx="0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3048000" y="2628900"/>
            <a:ext cx="0" cy="1514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379A20-90ED-4046-88C5-CE7A6EEA58B9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5476875" y="4667250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98744-51F4-4166-9E9A-91D63F986BC4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115425" y="2628900"/>
            <a:ext cx="0" cy="15144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0F70D8-CE0E-446F-BA03-6F511837F78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476875" y="2171700"/>
            <a:ext cx="12096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3" name="headline">
            <a:extLst xmlns:a="http://schemas.openxmlformats.org/drawingml/2006/main">
              <a:ext uri="{FF2B5EF4-FFF2-40B4-BE49-F238E27FC236}">
                <a16:creationId xmlns:a16="http://schemas.microsoft.com/office/drawing/2014/main" id="{A59FBFC7-DB62-4D1E-B7BF-F8AD50344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⑧ 変化検知と削除停止と再評価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C8EB11B1-E7F1-45DD-84BF-374B6A25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影響範囲を停止し、②③④⑤を更新して合格範囲だけ再開する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9B8BEAF-DEA3-42CA-AC0D-BC6E5B82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27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43F633DE-BF26-49EC-89CF-CF50C4D1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14500"/>
            <a:ext cx="4857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変化を検知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境界未知率、分布、性能など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D26BE643-35B8-4718-9F65-5512EC0B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14500"/>
            <a:ext cx="4857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EE9"/>
          </a:solidFill>
          <a:ln xmlns:a="http://schemas.openxmlformats.org/drawingml/2006/main" w="14288">
            <a:solidFill>
              <a:srgbClr val="B3533C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影響範囲の削除を停止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新規元データを保持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702AD711-E241-4325-9F4E-35F2206E3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143375"/>
            <a:ext cx="4857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残存・新規データで更新</a:t>
            </a:r>
          </a:p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境界から再構築、未知から新規抽出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B3297A01-44B8-4FA7-B874-C81BE8CB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43375"/>
            <a:ext cx="4857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F1ED"/>
          </a:solidFill>
          <a:ln xmlns:a="http://schemas.openxmlformats.org/drawingml/2006/main" w="14288">
            <a:solidFill>
              <a:srgbClr val="247C76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新版の三評価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合格範囲だけ削除を再開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F4C2AEF1-D62A-4CA8-9C91-85A8F4C7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定義、閾値、出現対応、統計、モデル、保持条件を更新する。削除済みデータの復活は前提にしない</a:t>
            </a:r>
          </a:p>
        </p:txBody>
      </p:sp>
    </p:spTree>
    <p:extLst>
      <p:ext uri="{BB962C8B-B14F-4D97-AF65-F5344CB8AC3E}">
        <p14:creationId xmlns:p14="http://schemas.microsoft.com/office/powerpoint/2010/main" val="149820423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FCEB8BA-C0F7-40A6-B8EC-101CFFD5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⑧ 更新する情報と再評価する条件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D07E3984-3353-431E-8B06-74CE4C78F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境界は再構築、未知は新規抽出の材料とし、削除済みデータは使えない前提にする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BB0D1-5C59-44A9-9F18-DEE7604F4DB4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905125"/>
                <a:gridCol w="8067675"/>
              </a:tblGrid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更新の対象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実行・確認する内容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変化を検知した範囲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今後の削除を止め、新規取得の元データを保持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再構築・新規抽出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残存・新規の境界データで定義を更新し、未知から新規抽出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定義・対応関係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ID・版・閾値と出現情報の対応を更新し、適用範囲を記録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入力・統計・保持条件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対応表、モデル、統計評価、保持集合を新版と整合させる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③⑤の評価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確立度・代替性・保持数と構成を再評価。旧許可は継承しない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679"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削除の再開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76200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再評価で合格した版・モデル・条件だけ再開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F044841-7476-43DA-9D9F-819E32E9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旧版の履歴を残し、新版に対応できない過去記録の範囲も明示する。設計案であり運用検証は未実施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8C1FE09-FFF1-4D26-999F-4694F388E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95662525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line">
            <a:extLst xmlns:a="http://schemas.openxmlformats.org/drawingml/2006/main">
              <a:ext uri="{FF2B5EF4-FFF2-40B4-BE49-F238E27FC236}">
                <a16:creationId xmlns:a16="http://schemas.microsoft.com/office/drawing/2014/main" id="{F5D4A4B5-24F2-4B89-B432-BC872184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⑨ 運用と継続的改善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C134F7DF-6A69-459B-9C61-370A50C0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入力：新規データと運用結果　出力：有効範囲が分かるモデル・知識・保持状態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DCD0D5A-C55A-4B6D-BE7D-99A25EC73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継続して行うこと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6122799-B479-4AB2-B3E0-8EE3FD045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5095875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①で新規データを取得し、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②で照合と出現記録を継続する。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⑥⑦の推論・説明と保存状況を記録し、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⑧で変化を監視する。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更新の条件を満たしたら、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停止・再抽出・再評価の処理へ進む。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55D6A6B-28BA-4CA4-80AE-07B86FAE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運用で確認する範囲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962F29D-F5FD-4FE4-9E88-825E26F9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095875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現在利用できるモデル・対応表・版と、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削除を許可した運転条件を管理する。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保存量、見逃し・誤警報、保持構成、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説明で参照できる統計の範囲を確認する。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実データで効果を検証し、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確認済みの条件を更新する。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A941B399-2EDF-467F-B75E-12E802CA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保存量の削減や未知パターンの発見、将来性能を保証するものではない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F4227C-FCB3-490B-B0E0-2E2948F1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85934691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line">
            <a:extLst xmlns:a="http://schemas.openxmlformats.org/drawingml/2006/main">
              <a:ext uri="{FF2B5EF4-FFF2-40B4-BE49-F238E27FC236}">
                <a16:creationId xmlns:a16="http://schemas.microsoft.com/office/drawing/2014/main" id="{91071E2C-00C7-4DD6-BA8E-97B24BF21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元データを削除できた架空の計算例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2444D095-4C45-4FE9-A4C2-1A43CE51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三評価の例示基準に合格し、学習用CSVを実際に削除した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24CC137-EC55-4D50-A01F-9578F738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30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18EA53C-561D-4251-8007-33E1E1907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71625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65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容量（MB）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9F18939D-38F7-47AE-837C-A97D05CB1855}"/>
              </a:ext>
            </a:extLst>
          </p:cNvPr>
          <p:cNvGraphicFramePr/>
          <p:nvPr/>
        </p:nvGraphicFramePr>
        <p:xfrm>
          <a:off xmlns:a="http://schemas.openxmlformats.org/drawingml/2006/main" x="609600" y="1819275"/>
          <a:ext xmlns:a="http://schemas.openxmlformats.org/drawingml/2006/main" cx="5524500" cy="3257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2e1ba926f246b6"/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7D08E9B6-85D2-4726-A501-AB1874AB1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276850"/>
            <a:ext cx="561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2175" b="1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学習用元CSV容量を74.82%削減</a:t>
            </a:r>
          </a:p>
        </p:txBody>
      </p:sp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FD06539F-8BDC-43CB-8CFF-D95F39A2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771650"/>
            <a:ext cx="4857750" cy="3867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1,632件のうち1,221件を削除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典型219件と境界未知192件を保持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典型の検証3,600件で判定一致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異常検出率は両方82.57%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正常判定率は両方94.97%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出現情報は全1,632件分を維持</a:t>
            </a:r>
          </a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66635DF3-A84E-4018-A591-E72AA8840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生成データでの結果。境界・未知への代替性は合格と扱わない。全保存物の削減率ではない</a:t>
            </a:r>
          </a:p>
        </p:txBody>
      </p:sp>
    </p:spTree>
    <p:extLst>
      <p:ext uri="{BB962C8B-B14F-4D97-AF65-F5344CB8AC3E}">
        <p14:creationId xmlns:p14="http://schemas.microsoft.com/office/powerpoint/2010/main" val="69768422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line">
            <a:extLst xmlns:a="http://schemas.openxmlformats.org/drawingml/2006/main">
              <a:ext uri="{FF2B5EF4-FFF2-40B4-BE49-F238E27FC236}">
                <a16:creationId xmlns:a16="http://schemas.microsoft.com/office/drawing/2014/main" id="{56C44C27-5BFA-4F7A-AE3E-C4E84A71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削除を禁止できることも計算で確認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2FAF3063-AB1C-458C-B16F-69C5D9E46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必要情報の欠落と保持条件の欠落を、別々に検出する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45C5347-6B6B-40A1-8C67-783506AB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31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023EC2C-2792-47ED-997A-6D7C98E0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情報を落としすぎた入力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8BF7D808-496B-47C3-9D72-46FF11F9D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振動上昇あり、温度上昇あり、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高負荷の3項目だけで学習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短い時間差と長い時間差を区別できず、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典型3,600件の異常検出率は0.0%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代替可能性が不合格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75E1460-DDB8-4413-90F1-D08C98E5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総数は足りるが保持構成が不足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34FA858C-C184-489F-A779-D3A771258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成功例と同じ典型219件を保持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ただし標準負荷の例だけを選定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必要区分95個が欠落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うち高負荷の区分は57個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保持条件が不合格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5C369106-AA8A-4490-B19D-D93F3E812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同じ実験の対照例。合格閾値は例示設定であり、実設備への採用済み条件ではない</a:t>
            </a:r>
          </a:p>
        </p:txBody>
      </p:sp>
    </p:spTree>
    <p:extLst>
      <p:ext uri="{BB962C8B-B14F-4D97-AF65-F5344CB8AC3E}">
        <p14:creationId xmlns:p14="http://schemas.microsoft.com/office/powerpoint/2010/main" val="175929231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7EDA5B-646E-4EF6-8E5F-A4F814A22520}"/>
              </a:ext>
            </a:extLst>
          </p:cNvPr>
          <p:cNvCxnSpPr>
            <a:stCxn xmlns:a="http://schemas.openxmlformats.org/drawingml/2006/main" id="7" idx="0"/>
            <a:endCxn xmlns:a="http://schemas.openxmlformats.org/drawingml/2006/main" id="5" idx="2"/>
          </p:cNvCxnSpPr>
          <p:nvPr/>
        </p:nvCxnSpPr>
        <p:spPr>
          <a:xfrm xmlns:a="http://schemas.openxmlformats.org/drawingml/2006/main" flipV="1">
            <a:off x="3048000" y="2857500"/>
            <a:ext cx="6096000" cy="1238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BA2FF2-9376-46A4-B128-907FA67F42D5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5476875" y="4572000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AC386B-0EDA-4B43-A119-64B5F57F16D3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144000" y="2857500"/>
            <a:ext cx="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6F6ADE-8861-41C1-9A56-F2B059C557C6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5476875" y="2381250"/>
            <a:ext cx="1238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3" name="headline">
            <a:extLst xmlns:a="http://schemas.openxmlformats.org/drawingml/2006/main">
              <a:ext uri="{FF2B5EF4-FFF2-40B4-BE49-F238E27FC236}">
                <a16:creationId xmlns:a16="http://schemas.microsoft.com/office/drawing/2014/main" id="{E8160268-F028-4310-A7F6-91755F1B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本流へ未採用の再抽出確認案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C4DFF3CE-8D90-4479-9D88-DED211299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保持集合だけで定義を再生成し、失われる違いを削除前に測る追加案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35CB6F7-4023-492E-B6EB-11D58983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32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F43F091A-17E6-4BE2-AA5D-19BDA7DF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05000"/>
            <a:ext cx="4857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削除前データから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基準パターン群を抽出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B5250568-F143-4EAF-87AB-A40BBC285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905000"/>
            <a:ext cx="4857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保持予定集合から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定義を独立に再生成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E3DDB350-F98A-4B70-AFDF-0A87494F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4095750"/>
            <a:ext cx="4857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事象順序、時間差分布、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群の誤統合などを比較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8D59318D-2C19-46F3-BBE4-C63594113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95750"/>
            <a:ext cx="4857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差が大きい例を追加保持</a:t>
            </a:r>
          </a:p>
          <a:p xmlns:a="http://schemas.openxmlformats.org/drawingml/2006/main">
            <a:pPr algn="ctr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再抽出と比較を反復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9A96AA11-56A7-4D21-A2C0-5902984DF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B3533C"/>
                </a:solidFill>
                <a:latin typeface="IPAexGothic"/>
                <a:ea typeface="IPAexGothic"/>
                <a:cs typeface="IPAexGothic"/>
              </a:rPr>
              <a:t>追加検討中。現在の6項と合格計算例には未採用。指標・許容差・反復終了条件は未確定</a:t>
            </a:r>
          </a:p>
        </p:txBody>
      </p:sp>
    </p:spTree>
    <p:extLst>
      <p:ext uri="{BB962C8B-B14F-4D97-AF65-F5344CB8AC3E}">
        <p14:creationId xmlns:p14="http://schemas.microsoft.com/office/powerpoint/2010/main" val="25459786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C921ED1F-1C1E-4EE0-A7F8-1ABD571AB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主要な先行特許と重なる処理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A0F1E081-E06C-444C-8235-55D23B7B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個々の既存要素と、本案の連動構成を分けて比較する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C385B45-5388-4CB9-B3CE-0E15EDDE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D83DA-1EFC-447C-9B1C-8DD9F7F4D64D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952750"/>
                <a:gridCol w="4191000"/>
                <a:gridCol w="3829050"/>
              </a:tblGrid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先行文献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既存の処理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差分検討での注意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日立 WO2013/051101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類似度の階層分類、未知、分類別保存削除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境界分類や保護だけでは差分が弱い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東芝 JP2008299486A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全データと部分データのモデル差を検査して削除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性能比較後に削除すること自体は既存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HPE US20240259034A1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パターン圧縮、再生成、学習済みモデルで比較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出現情報直接入力との具体的な違いを確認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Amazon US11507324B2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精度等のフィードバックによる圧縮方針の変更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65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変化検知だけで強い差分とはいえない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A1A966C4-5EC9-4004-8712-6BF89BA1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一つの文献に全要素が見つからないことだけで、進歩性が確定するわけではない</a:t>
            </a:r>
          </a:p>
        </p:txBody>
      </p:sp>
    </p:spTree>
    <p:extLst>
      <p:ext uri="{BB962C8B-B14F-4D97-AF65-F5344CB8AC3E}">
        <p14:creationId xmlns:p14="http://schemas.microsoft.com/office/powerpoint/2010/main" val="202802033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line">
            <a:extLst xmlns:a="http://schemas.openxmlformats.org/drawingml/2006/main">
              <a:ext uri="{FF2B5EF4-FFF2-40B4-BE49-F238E27FC236}">
                <a16:creationId xmlns:a16="http://schemas.microsoft.com/office/drawing/2014/main" id="{3C502152-1A72-44F2-8454-CDD3F1AE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日立文献との具体的な比較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A0E59862-601B-45B8-BF21-7266F315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時間差を扱えない文献とは説明しない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F61E283-94AC-457D-8015-B909D545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34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773CF91-28ED-45DA-A66B-6ED73338F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日立文献の関連する開示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D7B64F6-0D01-4080-A544-4F64C2450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時間軸伸縮へペナルティを与える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波形比較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階層分類、吸収閾値、未知の扱い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分類に応じた保存・削除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請求項8に同じ群へ属する圧縮条件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9F08830D-A461-4699-8B33-6C6C5E80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本案で具体化する差分候補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30A1943-0BCA-43C5-9299-6D2FE042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同一パターン版について、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確立度・特徴置換性能・保持構成を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別々に評価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未達の評価が削除対象を制限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学習と統計説明へ同じ出現情報を使用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790D4AFE-46F1-44C8-9E90-EC7D6AAF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境界保護だけを独自性の根拠にしない。具体的な連動条件と効果を対比する</a:t>
            </a:r>
          </a:p>
        </p:txBody>
      </p:sp>
    </p:spTree>
    <p:extLst>
      <p:ext uri="{BB962C8B-B14F-4D97-AF65-F5344CB8AC3E}">
        <p14:creationId xmlns:p14="http://schemas.microsoft.com/office/powerpoint/2010/main" val="35447322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E1A7C34-3522-400E-B0E9-1F6ABA34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入力と評価と説明に関する先行技術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4A1D52C8-698C-4159-93FA-4A775AD4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既存の入力変換や説明方法を、本案だけの処理としない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04D0F44-45F6-431C-87AC-F4EBD911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7A321F-0298-4A06-B7B9-84DBDEFBBAE5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3000375"/>
                <a:gridCol w="4238625"/>
                <a:gridCol w="3733800"/>
              </a:tblGrid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文献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確認した関連処理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本案との比較点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IBM JP5936240B2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パターンの有無や個数を特徴量にし分類学習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回数を入力すること自体は既存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東芝 JP2008299486A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全データと部分データのモデル比較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入力表現の置換と条件別保持を具体化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HPE US20240259034A1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圧縮表現から時系列を再生成して比較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再生成波形と出現情報直接入力を区別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富士通・EMCの関連文献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ルールや統計指標を用いる説明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削除履歴と同じ版の統計との関係を具体化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4849E38F-B56C-4271-BF0C-705F3299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上表は技術要素の重なり。各文献が本案全体を開示するという判断ではない</a:t>
            </a:r>
          </a:p>
        </p:txBody>
      </p:sp>
    </p:spTree>
    <p:extLst>
      <p:ext uri="{BB962C8B-B14F-4D97-AF65-F5344CB8AC3E}">
        <p14:creationId xmlns:p14="http://schemas.microsoft.com/office/powerpoint/2010/main" val="131796615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headline">
            <a:extLst xmlns:a="http://schemas.openxmlformats.org/drawingml/2006/main">
              <a:ext uri="{FF2B5EF4-FFF2-40B4-BE49-F238E27FC236}">
                <a16:creationId xmlns:a16="http://schemas.microsoft.com/office/drawing/2014/main" id="{35980B65-51A9-4A92-9A07-F33E2E39B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差分候補となる具体的な連動関係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37B0090C-924D-4E90-8C5A-E8A5ED34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評価結果が、どの元データの削除を止めるかを明確にする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C2663F8-91E0-49D7-B7C0-533802B7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82281-E861-4749-9EBC-24F8E9B3CF8A}"/>
              </a:ext>
            </a:extLst>
          </p:cNvPr>
          <p:cNvGraphicFramePr/>
          <p:nvPr/>
        </p:nvGraphicFramePr>
        <p:xfrm>
          <a:off xmlns:a="http://schemas.openxmlformats.org/drawingml/2006/main" x="609600" y="1714500"/>
          <a:ext xmlns:a="http://schemas.openxmlformats.org/drawingml/2006/main" cx="10972800" cy="3333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524375"/>
                <a:gridCol w="2762250"/>
                <a:gridCol w="3686175"/>
              </a:tblGrid>
              <a:tr h="6667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状態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本案での制御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維持したいもの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6667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確立度は高いが置換性能が未達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削除しない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判定に必要な情報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予測性能は維持するが希少区分が欠落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削除しない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条件別の再検討材料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6667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すべて合格するが版や条件が変化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旧許可を使わず再評価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評価した範囲との整合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元データの物理削除を実行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出現履歴と統計は維持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800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学習入力と説明の根拠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</a:tbl>
          </a:graphicData>
        </a:graphic>
      </p:graphicFrame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DFFEA0A-16A9-431D-9EA7-BCEFA956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763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中心候補は請求項1の連動制御。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3・4・6の具体化が重要で、2・5の追加要素は既存技術に近い。</a:t>
            </a:r>
          </a:p>
        </p:txBody>
      </p:sp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CA2F4B6A-1818-4D16-82E0-8722869A6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条件を並べるだけでは弱い。新規性・進歩性は構成と出願時点と文言の確定後に評価する</a:t>
            </a:r>
          </a:p>
        </p:txBody>
      </p:sp>
    </p:spTree>
    <p:extLst>
      <p:ext uri="{BB962C8B-B14F-4D97-AF65-F5344CB8AC3E}">
        <p14:creationId xmlns:p14="http://schemas.microsoft.com/office/powerpoint/2010/main" val="30526606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FDDB88-D91E-4326-BB26-B7CD867CA7A0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13" idx="3"/>
          </p:cNvCxnSpPr>
          <p:nvPr/>
        </p:nvCxnSpPr>
        <p:spPr>
          <a:xfrm xmlns:a="http://schemas.openxmlformats.org/drawingml/2006/main">
            <a:off x="11239500" y="2076450"/>
            <a:ext cx="228600" cy="3838575"/>
          </a:xfrm>
          <a:prstGeom xmlns:a="http://schemas.openxmlformats.org/drawingml/2006/main" prst="bentConnector4">
            <a:avLst/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8F960B-8DC3-455D-8303-E0E5213AE7E8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238625" y="3595688"/>
            <a:ext cx="1762125" cy="1481138"/>
          </a:xfrm>
          <a:prstGeom xmlns:a="http://schemas.openxmlformats.org/drawingml/2006/main" prst="bentConnector3">
            <a:avLst>
              <a:gd name="adj1" fmla="val 87027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5BCE4-8F1E-4192-B90F-A1E391934B0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238625" y="3595688"/>
            <a:ext cx="1762125" cy="4810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7CA32D-433D-4430-ABF2-545E4C76353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4238625" y="3076575"/>
            <a:ext cx="1762125" cy="51911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7EC8B0-62B8-4632-AAE2-A1417BF02FC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4238625" y="2076450"/>
            <a:ext cx="1762125" cy="15192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36487"/>
            </a:solidFill>
            <a:prstDash val="solid"/>
            <a:tailEnd type="arrow" w="med" len="med"/>
          </a:ln>
        </p:spPr>
      </p:cxnSp>
      <p:sp>
        <p:nvSpPr>
          <p:cNvPr id="16" name="headline">
            <a:extLst xmlns:a="http://schemas.openxmlformats.org/drawingml/2006/main">
              <a:ext uri="{FF2B5EF4-FFF2-40B4-BE49-F238E27FC236}">
                <a16:creationId xmlns:a16="http://schemas.microsoft.com/office/drawing/2014/main" id="{F94EC29C-A7C4-4C64-850D-4AAD1F340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6項の請求項構成案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D5E4301B-A83E-4472-8C42-3A09E271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正式な出願文言ではなく、請求項に記載する技術事項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1A08EFC-69A3-461C-8DF5-4A799924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37</a:t>
            </a:r>
          </a:p>
        </p:txBody>
      </p:sp>
      <p:sp>
        <p:nvSpPr>
          <p:cNvPr id="4" name="diagram-3">
            <a:extLst xmlns:a="http://schemas.openxmlformats.org/drawingml/2006/main">
              <a:ext uri="{FF2B5EF4-FFF2-40B4-BE49-F238E27FC236}">
                <a16:creationId xmlns:a16="http://schemas.microsoft.com/office/drawing/2014/main" id="{58B1EF91-0B21-4389-A49E-D89FCEE04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00375"/>
            <a:ext cx="36195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1 独立項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同一パターンによる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連動制御</a:t>
            </a:r>
          </a:p>
        </p:txBody>
      </p:sp>
      <p:sp>
        <p:nvSpPr>
          <p:cNvPr id="5" name="diagram-4">
            <a:extLst xmlns:a="http://schemas.openxmlformats.org/drawingml/2006/main">
              <a:ext uri="{FF2B5EF4-FFF2-40B4-BE49-F238E27FC236}">
                <a16:creationId xmlns:a16="http://schemas.microsoft.com/office/drawing/2014/main" id="{CA8A2A5A-439B-44C6-984A-25953F9C5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523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2 類似度分類と保護</a:t>
            </a:r>
          </a:p>
        </p:txBody>
      </p:sp>
      <p:sp>
        <p:nvSpPr>
          <p:cNvPr id="6" name="diagram-5">
            <a:extLst xmlns:a="http://schemas.openxmlformats.org/drawingml/2006/main">
              <a:ext uri="{FF2B5EF4-FFF2-40B4-BE49-F238E27FC236}">
                <a16:creationId xmlns:a16="http://schemas.microsoft.com/office/drawing/2014/main" id="{DE589C25-BABD-4590-A17C-783920AA6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714625"/>
            <a:ext cx="523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3 確立度と代替性能の評価</a:t>
            </a:r>
          </a:p>
        </p:txBody>
      </p:sp>
      <p:sp>
        <p:nvSpPr>
          <p:cNvPr id="7" name="diagram-6">
            <a:extLst xmlns:a="http://schemas.openxmlformats.org/drawingml/2006/main">
              <a:ext uri="{FF2B5EF4-FFF2-40B4-BE49-F238E27FC236}">
                <a16:creationId xmlns:a16="http://schemas.microsoft.com/office/drawing/2014/main" id="{42F25589-F0AF-4592-BCC6-8F29C1A1F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14750"/>
            <a:ext cx="523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4 保持数と保持構成</a:t>
            </a:r>
          </a:p>
        </p:txBody>
      </p:sp>
      <p:sp>
        <p:nvSpPr>
          <p:cNvPr id="8" name="diagram-7">
            <a:extLst xmlns:a="http://schemas.openxmlformats.org/drawingml/2006/main">
              <a:ext uri="{FF2B5EF4-FFF2-40B4-BE49-F238E27FC236}">
                <a16:creationId xmlns:a16="http://schemas.microsoft.com/office/drawing/2014/main" id="{7DECF3C0-594F-4634-AB56-B6C596CB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14875"/>
            <a:ext cx="5238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5 出現情報と統計説明</a:t>
            </a:r>
          </a:p>
        </p:txBody>
      </p:sp>
      <p:sp>
        <p:nvSpPr>
          <p:cNvPr id="13" name="diagram-12">
            <a:extLst xmlns:a="http://schemas.openxmlformats.org/drawingml/2006/main">
              <a:ext uri="{FF2B5EF4-FFF2-40B4-BE49-F238E27FC236}">
                <a16:creationId xmlns:a16="http://schemas.microsoft.com/office/drawing/2014/main" id="{0BD4DABF-7514-4968-ACB7-F1F9689A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657850"/>
            <a:ext cx="5238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1F5"/>
          </a:solidFill>
          <a:ln xmlns:a="http://schemas.openxmlformats.org/drawingml/2006/main" w="14288">
            <a:solidFill>
              <a:srgbClr val="236487"/>
            </a:solidFill>
            <a:prstDash val="solid"/>
          </a:ln>
        </p:spPr>
        <p:txBody>
          <a:bodyPr xmlns:a="http://schemas.openxmlformats.org/drawingml/2006/main" wrap="square" lIns="114300" tIns="114300" rIns="114300" bIns="11430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ctr">
              <a:buNone/>
              <a:def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6 変化検知と停止再評価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D288CEE3-E2CC-4F27-B76C-F4B32BA0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933950"/>
            <a:ext cx="4476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6は2を引用する案。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6が3～5の詳細をすべて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含む引用関係ではない。</a:t>
            </a:r>
          </a:p>
        </p:txBody>
      </p:sp>
    </p:spTree>
    <p:extLst>
      <p:ext uri="{BB962C8B-B14F-4D97-AF65-F5344CB8AC3E}">
        <p14:creationId xmlns:p14="http://schemas.microsoft.com/office/powerpoint/2010/main" val="194543471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06809CF4-FDE0-4CAD-AFED-57569563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請求項1 同一パターンに基づく連動制御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3E3B6E68-DD93-4AE4-BBCE-D01FFE563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独立項の技術事項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BD2D4CC-91BC-48E7-8D77-D10292C2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38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B1B88F9-0281-4794-9504-5DADD834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430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C4E3CC34-0F23-4C6E-BF5A-B143D9B1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7430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パターンID・版に対応づけて、定義、出現情報、統計、保持状況、削除許可評価を知識ベースで管理する。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ACC87406-29F5-4B72-A3C9-FB38FA20F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765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2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3D729D2-ABDB-4C11-B4E4-CDBEFE79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6765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確立度、元データ由来特徴から出現情報由来特徴への置換性能、削除後の最低保持数・保持構成を別々に評価する。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188DA3F-FB0C-4EA3-A8C6-DCB42BBAA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099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3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B25BF3EF-5654-464A-9849-FF167087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6099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すべて合格した場合だけ、保持集合外の余剰の典型元データを削除する。未達・未評価なら削除しない。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47EA19DE-86EA-42C3-8ED3-D9A8B40EA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43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4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02596EDD-790F-4745-BD61-B050676C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434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出現情報と統計を保持して学習・説明に共通利用し、許可を評価したパターン版・モデル・運転条件に限定する。</a:t>
            </a:r>
          </a:p>
        </p:txBody>
      </p:sp>
    </p:spTree>
    <p:extLst>
      <p:ext uri="{BB962C8B-B14F-4D97-AF65-F5344CB8AC3E}">
        <p14:creationId xmlns:p14="http://schemas.microsoft.com/office/powerpoint/2010/main" val="1100949568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EE0C8CB1-A6A5-4D6A-9910-AE369B0A6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請求項2 類似度分類と保持対象の管理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CE0392FE-0A28-4D3C-B927-984CE717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請求項1を引用する技術事項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15FA36D-8BCB-4494-BE5B-0400AFAB0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39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6AABB1C-D854-429B-8FCE-49163CF9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430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A86FCF7-9565-40FB-B21C-528094BDB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7430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典型範囲と対応可能範囲を定める二つの閾値を使い、個々のデータを典型・境界・未知へ分類する。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DD4574D-74D2-42C3-8407-835E0018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765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2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E90FF66-28BC-4E92-90AE-7DA28FE77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6765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典型は削除候補にとどめる。境界は削除から保護し、対応パターンID・版・類似度・保存先と関連づける。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D486A326-3A5B-4861-ACEC-E7807DC0C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099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3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7401F002-80E4-4F31-9C97-B3F7C3CF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6099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未知は登録済みパターンへの所属を確定せず、新規抽出候補として元データを保持する。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52100F85-908F-4978-9630-7ADAA9EC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43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4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97F51F8A-D802-4BF5-92F4-376ED7B2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434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本項は分類と保存管理を規定する。実際の再構築と新規抽出は請求項6で扱う。</a:t>
            </a:r>
          </a:p>
        </p:txBody>
      </p:sp>
    </p:spTree>
    <p:extLst>
      <p:ext uri="{BB962C8B-B14F-4D97-AF65-F5344CB8AC3E}">
        <p14:creationId xmlns:p14="http://schemas.microsoft.com/office/powerpoint/2010/main" val="23720946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28F23091-06F4-4697-BB90-27F97627F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請求項3 確立度と代替可能性の個別評価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D34393F4-3064-47E2-8938-3527C5D9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請求項1を引用する技術事項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5D13056-DA7A-4439-BE2C-1DD54105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40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F563668-9F64-4C0B-9467-3894F36F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430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78CE4CF2-551A-4078-B31E-3279ED72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7430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出現数、統計量の信頼区間、期間・設備・運転条件ごとの再現性等から確立度を評価する。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5AB37DBF-C9E9-4815-89A9-C1C13C8F7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765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2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4B2EE417-1D06-451C-AA73-78A2919F2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6765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共通の検証データと同じ予測対象について、元データ由来特徴と出現情報由来特徴による性能を比較する。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0CF2BA2B-A00E-4895-BEC6-ABCFDCB8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099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3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1990EA16-1D8A-4AF8-A8CC-8A0C173E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6099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全体平均に加え、削除を適用する条件ごとに確認する。検証例不足の条件を確認済みとは扱わない。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0F2490AF-CF02-47E3-85B1-7A217821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43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4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C1554499-A07C-4D85-81EA-4B4AFF7D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434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評価対象期間、モデル、パターン版、運転条件を記録する。具体的な指標と許容差は用途に応じて定める。</a:t>
            </a:r>
          </a:p>
        </p:txBody>
      </p:sp>
    </p:spTree>
    <p:extLst>
      <p:ext uri="{BB962C8B-B14F-4D97-AF65-F5344CB8AC3E}">
        <p14:creationId xmlns:p14="http://schemas.microsoft.com/office/powerpoint/2010/main" val="1877119551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605DDF9E-4C4F-4818-AFD9-7857910C8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請求項4 最低保持数と保持構成の算定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FFF399A6-67B5-48C5-A863-698966C8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請求項1を引用する技術事項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5140EA2A-EC62-4CCF-B0E1-C562DA53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41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CA824F3E-2A6F-4C65-B15C-0CE0AB339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430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E0DA25C-FDB8-4CA2-A618-1B1C6490C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7430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代表例、典型内の変動、最近例、希少条件などの区分ごとに、ばらつき・不確かさ・網羅状況から必要数を定める。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103C6AC7-206B-404F-BD21-1AC8C679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765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2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56CFBDC-B117-43FA-961F-610401EC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6765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削除前に保持集合を選び、削除後の区分別残存数を確認する。総数が足りても必要区分が欠ける削除を禁止する。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036C381D-C04D-41A9-A99F-AC292AC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099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3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22F87F32-FDAC-4A7E-BA26-CCBAA619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6099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区分重複による二重計数を避け、境界などの別途保護対象の保護を維持する。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8DFB9EA8-8DFE-4C48-A705-3D4F20E6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43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4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580524E1-A632-4203-B9B0-8A1DCE4B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434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必要数の一般的な算定式は未確定。一定割合の保持だけで充足したと扱わず、数学的な最小数も保証しない。</a:t>
            </a:r>
          </a:p>
        </p:txBody>
      </p:sp>
    </p:spTree>
    <p:extLst>
      <p:ext uri="{BB962C8B-B14F-4D97-AF65-F5344CB8AC3E}">
        <p14:creationId xmlns:p14="http://schemas.microsoft.com/office/powerpoint/2010/main" val="1065767356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17EFAEC1-7816-434E-A694-7B08375C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請求項5 出現情報と統計の保持と説明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6E1C3A79-4855-4019-8427-62949DE8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請求項1を引用する技術事項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38353FF-EE15-4A1A-BAA4-F5E1DBC15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42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5B564693-7167-4C2F-A829-426A3158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430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6081EB8-7FF0-4F6C-A504-44EFDFF05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7430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出現時刻、回数、継続時間、間隔、強度、一致度を元データから独立して保存する。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9F212B5-9C23-43E7-B07A-876CCE9E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765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2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D6952109-3A14-4A1A-935B-22307D88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6765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残存元データだけで過去の統計を取り直さず、出現情報を基礎に維持する。物理削除を理由に過去の出現回数を減らさない。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D5D18EAA-DD27-4AEE-9866-7AE886B62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099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3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6D46F061-3385-4557-A09B-D917359E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6099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同じパターンID・版の情報を、学習入力、確立度評価、判定理由の説明に共通利用する。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E1637511-78D1-45DB-81A2-494D44AD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43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4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1CDD9318-AB5F-4752-8375-95DA766F9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434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今回のモデルへの寄与と、過去の統計的関連を区別して併記する。出現率、効果量、信頼区間、対象数等を用いる。</a:t>
            </a:r>
          </a:p>
        </p:txBody>
      </p:sp>
    </p:spTree>
    <p:extLst>
      <p:ext uri="{BB962C8B-B14F-4D97-AF65-F5344CB8AC3E}">
        <p14:creationId xmlns:p14="http://schemas.microsoft.com/office/powerpoint/2010/main" val="1927577412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eadline">
            <a:extLst xmlns:a="http://schemas.openxmlformats.org/drawingml/2006/main">
              <a:ext uri="{FF2B5EF4-FFF2-40B4-BE49-F238E27FC236}">
                <a16:creationId xmlns:a16="http://schemas.microsoft.com/office/drawing/2014/main" id="{EB8B3A05-5EA5-4B34-BC91-CBFE8944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請求項6 変化検知と削除停止と再評価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5CFBAA6D-F472-4C59-84BA-6EDFF936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請求項2を引用する技術事項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B67E0E5D-9216-4ED6-B20D-742C8CE99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43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49FA166-5EFF-4457-A60B-E8787C20A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7430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1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CF5955C-50AB-43D4-8660-E75154EB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7430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境界未知率、類似度分布、統計的関係、性能の変化で、影響するパターン・条件の今後の削除を止め、新規元データを保持する。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C893151A-0F21-43BC-9A96-3FA0B2A8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765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2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D65160FD-50E5-4395-9CFC-7F1D5994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6765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残存・新規の境界元データで再構築し、未知元データから新しいパターンを抽出する。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C0B0CF55-2E7C-4150-9AE1-9AF8BD2D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60997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3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AD357C82-8454-4B51-BD28-61A0F4B3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360997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分割・統合・新規登録時に、版、閾値、出現対応、統計、モデル、確立度、代替性、保持条件を更新する。</a:t>
            </a:r>
          </a:p>
        </p:txBody>
      </p:sp>
      <p:sp>
        <p:nvSpPr>
          <p:cNvPr id="10" name="text-9">
            <a:extLst xmlns:a="http://schemas.openxmlformats.org/drawingml/2006/main">
              <a:ext uri="{FF2B5EF4-FFF2-40B4-BE49-F238E27FC236}">
                <a16:creationId xmlns:a16="http://schemas.microsoft.com/office/drawing/2014/main" id="{B8350683-49B8-4D89-B6A6-CDE472149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5434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187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4</a:t>
            </a:r>
          </a:p>
        </p:txBody>
      </p:sp>
      <p:sp>
        <p:nvSpPr>
          <p:cNvPr id="11" name="text-10">
            <a:extLst xmlns:a="http://schemas.openxmlformats.org/drawingml/2006/main">
              <a:ext uri="{FF2B5EF4-FFF2-40B4-BE49-F238E27FC236}">
                <a16:creationId xmlns:a16="http://schemas.microsoft.com/office/drawing/2014/main" id="{895F8B06-C67D-47E5-B199-CFEECC70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543425"/>
            <a:ext cx="10287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87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旧版の削除許可を新版へ自動適用せず、再評価で合格した範囲だけ再開する。削除済み元データの再取得は前提にしない。</a:t>
            </a:r>
          </a:p>
        </p:txBody>
      </p:sp>
    </p:spTree>
    <p:extLst>
      <p:ext uri="{BB962C8B-B14F-4D97-AF65-F5344CB8AC3E}">
        <p14:creationId xmlns:p14="http://schemas.microsoft.com/office/powerpoint/2010/main" val="1757557322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headline">
            <a:extLst xmlns:a="http://schemas.openxmlformats.org/drawingml/2006/main">
              <a:ext uri="{FF2B5EF4-FFF2-40B4-BE49-F238E27FC236}">
                <a16:creationId xmlns:a16="http://schemas.microsoft.com/office/drawing/2014/main" id="{C74055CD-AF0E-4651-AA32-E37ADAF0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確認済みの範囲と次に決める内容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0CC0F517-2DC6-4478-9D48-06BDC7CEB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架空計算での実行結果と、実設備での検証課題を区別する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FBB6438-212D-4CE9-86B8-DF61F037E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44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75A6486-0AD6-43EE-A810-10DF837E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今回までに計算した範囲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05E7A04E-2EB3-47F1-9F16-B8CDFABB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既存手法による抽出の具体例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出現情報からの学習と統計説明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架空ログでの三評価と実際の削除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削除後の参照更新と再学習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不合格時に削除を禁止する対照例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449EAC50-3F5E-4286-B731-756EC28E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defRPr>
            </a:pPr>
            <a:r>
              <a:rPr sz="2325" b="1">
                <a:solidFill>
                  <a:srgbClr val="247C76"/>
                </a:solidFill>
                <a:latin typeface="IPAexGothic"/>
                <a:ea typeface="IPAexGothic"/>
                <a:cs typeface="IPAexGothic"/>
              </a:rPr>
              <a:t>未確定または未検証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936B0BE9-ED04-41D0-9409-B33662650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33625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実設備の検出条件と正解ラベル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必要数の算定と許容性能差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別設備・期間・希少条件の再現性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変更後の停止と再構築と再開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2025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出願状況、採用構成、正式な文言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2186439-D375-41FE-8FDA-91C66BBA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既存手法が存在しないと断定した工程はない。同一構成の未確認と技術の不存在を区別する</a:t>
            </a:r>
          </a:p>
        </p:txBody>
      </p:sp>
    </p:spTree>
    <p:extLst>
      <p:ext uri="{BB962C8B-B14F-4D97-AF65-F5344CB8AC3E}">
        <p14:creationId xmlns:p14="http://schemas.microsoft.com/office/powerpoint/2010/main" val="451569921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headline">
            <a:extLst xmlns:a="http://schemas.openxmlformats.org/drawingml/2006/main">
              <a:ext uri="{FF2B5EF4-FFF2-40B4-BE49-F238E27FC236}">
                <a16:creationId xmlns:a16="http://schemas.microsoft.com/office/drawing/2014/main" id="{C4E58A05-490D-4CE2-B669-F70A49980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3375"/>
            <a:ext cx="10953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3300" b="1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参照資料と主要な先行文献</a:t>
            </a:r>
          </a:p>
        </p:txBody>
      </p:sp>
      <p:sp>
        <p:nvSpPr>
          <p:cNvPr id="2" name="summary">
            <a:extLst xmlns:a="http://schemas.openxmlformats.org/drawingml/2006/main">
              <a:ext uri="{FF2B5EF4-FFF2-40B4-BE49-F238E27FC236}">
                <a16:creationId xmlns:a16="http://schemas.microsoft.com/office/drawing/2014/main" id="{319CCE23-320B-4558-8CD9-AE15760A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896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800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本文の比較は技術構成の整理であり、網羅調査や最終法律判断ではない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29C3C59-E81F-4B52-A380-84D529E4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48425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r">
              <a:buNone/>
              <a:def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2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45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5FAC4FD-75F1-47C7-B54A-35070B2E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76400"/>
            <a:ext cx="1085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defRPr>
            </a:pPr>
            <a:r>
              <a:rPr sz="2250" b="1">
                <a:solidFill>
                  <a:srgbClr val="236487"/>
                </a:solidFill>
                <a:latin typeface="IPAexGothic"/>
                <a:ea typeface="IPAexGothic"/>
                <a:cs typeface="IPAexGothic"/>
              </a:rPr>
              <a:t>基礎資料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4980DD3E-D58C-4355-BDD2-6D535431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190750"/>
            <a:ext cx="10858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発明アイデア詳細資料_v4.pdf  第4版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defRPr>
            </a:pPr>
            <a:r>
              <a:rPr sz="1950" b="0">
                <a:solidFill>
                  <a:srgbClr val="172B3A"/>
                </a:solidFill>
                <a:latin typeface="IPAexGothic"/>
                <a:ea typeface="IPAexGothic"/>
                <a:cs typeface="IPAexGothic"/>
              </a:rPr>
              <a:t>元データ削除の合格例_v1.pdf  第1版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4F1556-E784-4E6D-ADDB-9741EDC1BCFC}"/>
              </a:ext>
            </a:extLst>
          </p:cNvPr>
          <p:cNvGraphicFramePr/>
          <p:nvPr/>
        </p:nvGraphicFramePr>
        <p:xfrm>
          <a:off xmlns:a="http://schemas.openxmlformats.org/drawingml/2006/main" x="609600" y="3238500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5238750"/>
                <a:gridCol w="5734050"/>
              </a:tblGrid>
              <a:tr h="42862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文献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1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確認したページ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T w="9525">
                      <a:solidFill>
                        <a:srgbClr val="BCCAD2"/>
                      </a:solidFill>
                      <a:prstDash val="solid"/>
                    </a:lnT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EAF1F5"/>
                    </a:solidFill>
                  </a:tcPr>
                </a:tc>
              </a:tr>
              <a:tr h="42862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日立 WO2013/051101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JPWO2013051101A1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東芝 JP2008299486A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全データと部分データのモデル比較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2862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HPE US20240259034A1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パターン圧縮と再生成データの比較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Amazon US11507324B2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処理精度等による圧縮方針の変更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8FAFB"/>
                    </a:solidFill>
                  </a:tcPr>
                </a:tc>
              </a:tr>
              <a:tr h="428625"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IBM JP5936240B2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CAD2"/>
                      </a:solidFill>
                      <a:prstDash val="solid"/>
                    </a:lnL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33350" tIns="85725" rIns="114300" bIns="76200"/>
                    <a:lstStyle/>
                    <a:p>
                      <a:r>
                        <a:rPr sz="1725" b="0">
                          <a:solidFill>
                            <a:srgbClr val="172B3A"/>
                          </a:solidFill>
                          <a:latin typeface="IPAexGothic"/>
                          <a:ea typeface="IPAexGothic"/>
                          <a:cs typeface="IPAexGothic"/>
                        </a:rPr>
                        <a:t>パターン有無や個数の特徴ベクトル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CAD2"/>
                      </a:solidFill>
                      <a:prstDash val="solid"/>
                    </a:lnR>
                    <a:lnB w="9525">
                      <a:solidFill>
                        <a:srgbClr val="BCCAD2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8482F995-C5AD-44B7-8CDB-7450FCE6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06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defPPr>
            <a:lvl1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1pPr>
            <a:lvl2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2pPr>
            <a:lvl3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3pPr>
            <a:lvl4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4pPr>
            <a:lvl5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5pPr>
            <a:lvl6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6pPr>
            <a:lvl7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7pPr>
            <a:lvl8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8pPr>
            <a:lvl9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defRPr>
            </a:pPr>
            <a:r>
              <a:rPr sz="1575" b="0">
                <a:solidFill>
                  <a:srgbClr val="586872"/>
                </a:solidFill>
                <a:latin typeface="IPAexGothic"/>
                <a:ea typeface="IPAexGothic"/>
                <a:cs typeface="IPAexGothic"/>
              </a:rPr>
              <a:t>各文献のURLと出典箇所を、対応スライドの発表者ノートに記載</a:t>
            </a:r>
          </a:p>
        </p:txBody>
      </p:sp>
    </p:spTree>
    <p:extLst>
      <p:ext uri="{BB962C8B-B14F-4D97-AF65-F5344CB8AC3E}">
        <p14:creationId xmlns:p14="http://schemas.microsoft.com/office/powerpoint/2010/main" val="12199962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2026-10-19T06:48:00.3500000Z</dcterms:created>
  <dcterms:modified xsi:type="dcterms:W3CDTF">2026-10-19T06:48:00.3500000Z</dcterms:modified>
</coreProperties>
</file>